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8" r:id="rId9"/>
    <p:sldId id="269" r:id="rId10"/>
    <p:sldId id="270" r:id="rId11"/>
    <p:sldId id="272" r:id="rId12"/>
    <p:sldId id="290" r:id="rId13"/>
    <p:sldId id="274" r:id="rId14"/>
    <p:sldId id="279" r:id="rId15"/>
    <p:sldId id="299" r:id="rId16"/>
    <p:sldId id="298" r:id="rId17"/>
    <p:sldId id="282" r:id="rId18"/>
    <p:sldId id="286" r:id="rId19"/>
    <p:sldId id="285" r:id="rId20"/>
    <p:sldId id="287" r:id="rId21"/>
    <p:sldId id="297" r:id="rId22"/>
    <p:sldId id="293" r:id="rId23"/>
    <p:sldId id="294" r:id="rId24"/>
    <p:sldId id="296" r:id="rId25"/>
    <p:sldId id="301" r:id="rId26"/>
    <p:sldId id="277" r:id="rId27"/>
    <p:sldId id="288" r:id="rId28"/>
    <p:sldId id="289" r:id="rId29"/>
    <p:sldId id="300" r:id="rId30"/>
    <p:sldId id="280" r:id="rId31"/>
    <p:sldId id="263" r:id="rId32"/>
    <p:sldId id="265" r:id="rId33"/>
    <p:sldId id="292" r:id="rId34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6FF"/>
    <a:srgbClr val="6875F4"/>
    <a:srgbClr val="384AF0"/>
    <a:srgbClr val="7B8CDF"/>
    <a:srgbClr val="D7D7D7"/>
    <a:srgbClr val="D6EAEE"/>
    <a:srgbClr val="9DC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2AC671-4C19-494D-AFA9-C5B2EBDAD163}" v="90" dt="2026-03-14T04:40:03.777"/>
    <p1510:client id="{4DC7BA72-B8F4-42A1-8CAC-426EED29B5CF}" v="421" dt="2026-03-13T15:36:27.831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87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bhu Asish Panda" userId="22597e5222773c0b" providerId="LiveId" clId="{E60CB3FE-77E3-4F0D-8D4A-281671C3A593}"/>
    <pc:docChg chg="undo custSel delSld modSld">
      <pc:chgData name="Bibhu Asish Panda" userId="22597e5222773c0b" providerId="LiveId" clId="{E60CB3FE-77E3-4F0D-8D4A-281671C3A593}" dt="2026-03-14T04:40:03.777" v="522" actId="14100"/>
      <pc:docMkLst>
        <pc:docMk/>
      </pc:docMkLst>
      <pc:sldChg chg="modSp mod">
        <pc:chgData name="Bibhu Asish Panda" userId="22597e5222773c0b" providerId="LiveId" clId="{E60CB3FE-77E3-4F0D-8D4A-281671C3A593}" dt="2026-03-14T01:32:45.341" v="493" actId="20577"/>
        <pc:sldMkLst>
          <pc:docMk/>
          <pc:sldMk cId="0" sldId="256"/>
        </pc:sldMkLst>
        <pc:spChg chg="mod">
          <ac:chgData name="Bibhu Asish Panda" userId="22597e5222773c0b" providerId="LiveId" clId="{E60CB3FE-77E3-4F0D-8D4A-281671C3A593}" dt="2026-03-14T01:32:45.341" v="493" actId="20577"/>
          <ac:spMkLst>
            <pc:docMk/>
            <pc:sldMk cId="0" sldId="256"/>
            <ac:spMk id="22" creationId="{55CC851B-6B7D-EB01-7595-A572C8F8C611}"/>
          </ac:spMkLst>
        </pc:spChg>
      </pc:sldChg>
      <pc:sldChg chg="modSp mod">
        <pc:chgData name="Bibhu Asish Panda" userId="22597e5222773c0b" providerId="LiveId" clId="{E60CB3FE-77E3-4F0D-8D4A-281671C3A593}" dt="2026-03-14T01:22:24.485" v="408" actId="207"/>
        <pc:sldMkLst>
          <pc:docMk/>
          <pc:sldMk cId="0" sldId="257"/>
        </pc:sldMkLst>
        <pc:spChg chg="mod">
          <ac:chgData name="Bibhu Asish Panda" userId="22597e5222773c0b" providerId="LiveId" clId="{E60CB3FE-77E3-4F0D-8D4A-281671C3A593}" dt="2026-03-14T01:22:24.485" v="408" actId="207"/>
          <ac:spMkLst>
            <pc:docMk/>
            <pc:sldMk cId="0" sldId="257"/>
            <ac:spMk id="4" creationId="{F31591C1-8EF7-EF65-1671-74D84B916818}"/>
          </ac:spMkLst>
        </pc:spChg>
      </pc:sldChg>
      <pc:sldChg chg="modSp mod">
        <pc:chgData name="Bibhu Asish Panda" userId="22597e5222773c0b" providerId="LiveId" clId="{E60CB3FE-77E3-4F0D-8D4A-281671C3A593}" dt="2026-03-14T01:22:35.354" v="409" actId="207"/>
        <pc:sldMkLst>
          <pc:docMk/>
          <pc:sldMk cId="0" sldId="258"/>
        </pc:sldMkLst>
        <pc:spChg chg="mod">
          <ac:chgData name="Bibhu Asish Panda" userId="22597e5222773c0b" providerId="LiveId" clId="{E60CB3FE-77E3-4F0D-8D4A-281671C3A593}" dt="2026-03-14T01:22:35.354" v="409" actId="207"/>
          <ac:spMkLst>
            <pc:docMk/>
            <pc:sldMk cId="0" sldId="258"/>
            <ac:spMk id="2" creationId="{C13B8F20-0BF4-C57C-814C-2DCA09300F54}"/>
          </ac:spMkLst>
        </pc:spChg>
      </pc:sldChg>
      <pc:sldChg chg="modSp mod">
        <pc:chgData name="Bibhu Asish Panda" userId="22597e5222773c0b" providerId="LiveId" clId="{E60CB3FE-77E3-4F0D-8D4A-281671C3A593}" dt="2026-03-14T01:22:43.262" v="410" actId="207"/>
        <pc:sldMkLst>
          <pc:docMk/>
          <pc:sldMk cId="0" sldId="259"/>
        </pc:sldMkLst>
        <pc:spChg chg="mod">
          <ac:chgData name="Bibhu Asish Panda" userId="22597e5222773c0b" providerId="LiveId" clId="{E60CB3FE-77E3-4F0D-8D4A-281671C3A593}" dt="2026-03-14T01:22:43.262" v="410" actId="207"/>
          <ac:spMkLst>
            <pc:docMk/>
            <pc:sldMk cId="0" sldId="259"/>
            <ac:spMk id="3" creationId="{E1495F41-4E12-9CCF-903D-45DFB3A9FC53}"/>
          </ac:spMkLst>
        </pc:spChg>
      </pc:sldChg>
      <pc:sldChg chg="modSp mod">
        <pc:chgData name="Bibhu Asish Panda" userId="22597e5222773c0b" providerId="LiveId" clId="{E60CB3FE-77E3-4F0D-8D4A-281671C3A593}" dt="2026-03-14T01:22:49.799" v="411" actId="207"/>
        <pc:sldMkLst>
          <pc:docMk/>
          <pc:sldMk cId="0" sldId="260"/>
        </pc:sldMkLst>
        <pc:spChg chg="mod">
          <ac:chgData name="Bibhu Asish Panda" userId="22597e5222773c0b" providerId="LiveId" clId="{E60CB3FE-77E3-4F0D-8D4A-281671C3A593}" dt="2026-03-14T01:22:49.799" v="411" actId="207"/>
          <ac:spMkLst>
            <pc:docMk/>
            <pc:sldMk cId="0" sldId="260"/>
            <ac:spMk id="2" creationId="{FB0A2F9B-651F-EC38-02D7-0AEC10E51C43}"/>
          </ac:spMkLst>
        </pc:spChg>
      </pc:sldChg>
      <pc:sldChg chg="modSp mod">
        <pc:chgData name="Bibhu Asish Panda" userId="22597e5222773c0b" providerId="LiveId" clId="{E60CB3FE-77E3-4F0D-8D4A-281671C3A593}" dt="2026-03-14T01:22:55.869" v="412" actId="207"/>
        <pc:sldMkLst>
          <pc:docMk/>
          <pc:sldMk cId="0" sldId="261"/>
        </pc:sldMkLst>
        <pc:spChg chg="mod">
          <ac:chgData name="Bibhu Asish Panda" userId="22597e5222773c0b" providerId="LiveId" clId="{E60CB3FE-77E3-4F0D-8D4A-281671C3A593}" dt="2026-03-14T01:22:55.869" v="412" actId="207"/>
          <ac:spMkLst>
            <pc:docMk/>
            <pc:sldMk cId="0" sldId="261"/>
            <ac:spMk id="2" creationId="{A7158C6D-A1A7-D470-2765-59EB09C378EF}"/>
          </ac:spMkLst>
        </pc:spChg>
        <pc:spChg chg="mod">
          <ac:chgData name="Bibhu Asish Panda" userId="22597e5222773c0b" providerId="LiveId" clId="{E60CB3FE-77E3-4F0D-8D4A-281671C3A593}" dt="2026-03-14T01:11:33.093" v="406" actId="20577"/>
          <ac:spMkLst>
            <pc:docMk/>
            <pc:sldMk cId="0" sldId="261"/>
            <ac:spMk id="3" creationId="{223E3A77-D94E-0CE6-115F-CAFA53074D79}"/>
          </ac:spMkLst>
        </pc:spChg>
        <pc:picChg chg="mod">
          <ac:chgData name="Bibhu Asish Panda" userId="22597e5222773c0b" providerId="LiveId" clId="{E60CB3FE-77E3-4F0D-8D4A-281671C3A593}" dt="2026-03-14T01:09:06.150" v="388" actId="14100"/>
          <ac:picMkLst>
            <pc:docMk/>
            <pc:sldMk cId="0" sldId="261"/>
            <ac:picMk id="4" creationId="{49754764-243A-9771-3470-A82F3AA88FCC}"/>
          </ac:picMkLst>
        </pc:picChg>
        <pc:picChg chg="mod">
          <ac:chgData name="Bibhu Asish Panda" userId="22597e5222773c0b" providerId="LiveId" clId="{E60CB3FE-77E3-4F0D-8D4A-281671C3A593}" dt="2026-03-14T01:10:35.027" v="391" actId="14100"/>
          <ac:picMkLst>
            <pc:docMk/>
            <pc:sldMk cId="0" sldId="261"/>
            <ac:picMk id="7170" creationId="{33AD7428-19DE-121D-7B78-D80EA965CD7B}"/>
          </ac:picMkLst>
        </pc:picChg>
      </pc:sldChg>
      <pc:sldChg chg="modSp mod">
        <pc:chgData name="Bibhu Asish Panda" userId="22597e5222773c0b" providerId="LiveId" clId="{E60CB3FE-77E3-4F0D-8D4A-281671C3A593}" dt="2026-03-14T01:25:54.118" v="438" actId="207"/>
        <pc:sldMkLst>
          <pc:docMk/>
          <pc:sldMk cId="0" sldId="263"/>
        </pc:sldMkLst>
        <pc:spChg chg="mod">
          <ac:chgData name="Bibhu Asish Panda" userId="22597e5222773c0b" providerId="LiveId" clId="{E60CB3FE-77E3-4F0D-8D4A-281671C3A593}" dt="2026-03-14T01:25:54.118" v="438" actId="207"/>
          <ac:spMkLst>
            <pc:docMk/>
            <pc:sldMk cId="0" sldId="263"/>
            <ac:spMk id="3" creationId="{2C2480E7-E4C3-E3D1-8A7E-6EB9003A3251}"/>
          </ac:spMkLst>
        </pc:spChg>
      </pc:sldChg>
      <pc:sldChg chg="modSp mod">
        <pc:chgData name="Bibhu Asish Panda" userId="22597e5222773c0b" providerId="LiveId" clId="{E60CB3FE-77E3-4F0D-8D4A-281671C3A593}" dt="2026-03-14T01:25:59.733" v="439" actId="207"/>
        <pc:sldMkLst>
          <pc:docMk/>
          <pc:sldMk cId="0" sldId="265"/>
        </pc:sldMkLst>
        <pc:spChg chg="mod">
          <ac:chgData name="Bibhu Asish Panda" userId="22597e5222773c0b" providerId="LiveId" clId="{E60CB3FE-77E3-4F0D-8D4A-281671C3A593}" dt="2026-03-14T01:25:59.733" v="439" actId="207"/>
          <ac:spMkLst>
            <pc:docMk/>
            <pc:sldMk cId="0" sldId="265"/>
            <ac:spMk id="2" creationId="{EEE756DA-43D5-2948-7203-11C44DD0BA7E}"/>
          </ac:spMkLst>
        </pc:spChg>
      </pc:sldChg>
      <pc:sldChg chg="modSp mod">
        <pc:chgData name="Bibhu Asish Panda" userId="22597e5222773c0b" providerId="LiveId" clId="{E60CB3FE-77E3-4F0D-8D4A-281671C3A593}" dt="2026-03-14T04:31:24.742" v="514" actId="20577"/>
        <pc:sldMkLst>
          <pc:docMk/>
          <pc:sldMk cId="2117360372" sldId="268"/>
        </pc:sldMkLst>
        <pc:spChg chg="mod">
          <ac:chgData name="Bibhu Asish Panda" userId="22597e5222773c0b" providerId="LiveId" clId="{E60CB3FE-77E3-4F0D-8D4A-281671C3A593}" dt="2026-03-14T01:23:09.622" v="414" actId="207"/>
          <ac:spMkLst>
            <pc:docMk/>
            <pc:sldMk cId="2117360372" sldId="268"/>
            <ac:spMk id="2" creationId="{3C9A522E-ECEC-53CC-02FC-D1675779DC84}"/>
          </ac:spMkLst>
        </pc:spChg>
        <pc:spChg chg="mod">
          <ac:chgData name="Bibhu Asish Panda" userId="22597e5222773c0b" providerId="LiveId" clId="{E60CB3FE-77E3-4F0D-8D4A-281671C3A593}" dt="2026-03-14T04:31:24.742" v="514" actId="20577"/>
          <ac:spMkLst>
            <pc:docMk/>
            <pc:sldMk cId="2117360372" sldId="268"/>
            <ac:spMk id="3" creationId="{CEB397BF-232B-D193-3D1D-F977491C904D}"/>
          </ac:spMkLst>
        </pc:spChg>
        <pc:spChg chg="mod">
          <ac:chgData name="Bibhu Asish Panda" userId="22597e5222773c0b" providerId="LiveId" clId="{E60CB3FE-77E3-4F0D-8D4A-281671C3A593}" dt="2026-03-14T00:53:06.687" v="336" actId="14100"/>
          <ac:spMkLst>
            <pc:docMk/>
            <pc:sldMk cId="2117360372" sldId="268"/>
            <ac:spMk id="5" creationId="{EED66A27-E037-CBEE-8E94-41CEC96952FE}"/>
          </ac:spMkLst>
        </pc:spChg>
        <pc:spChg chg="mod">
          <ac:chgData name="Bibhu Asish Panda" userId="22597e5222773c0b" providerId="LiveId" clId="{E60CB3FE-77E3-4F0D-8D4A-281671C3A593}" dt="2026-03-14T00:53:18.717" v="337" actId="1076"/>
          <ac:spMkLst>
            <pc:docMk/>
            <pc:sldMk cId="2117360372" sldId="268"/>
            <ac:spMk id="6" creationId="{B2F928DC-5E6C-4DEF-9395-01317103F9C4}"/>
          </ac:spMkLst>
        </pc:spChg>
        <pc:spChg chg="mod">
          <ac:chgData name="Bibhu Asish Panda" userId="22597e5222773c0b" providerId="LiveId" clId="{E60CB3FE-77E3-4F0D-8D4A-281671C3A593}" dt="2026-03-14T00:53:24.670" v="338" actId="1076"/>
          <ac:spMkLst>
            <pc:docMk/>
            <pc:sldMk cId="2117360372" sldId="268"/>
            <ac:spMk id="7" creationId="{A4B8399E-6885-E743-67D8-5A0924152EA7}"/>
          </ac:spMkLst>
        </pc:spChg>
        <pc:grpChg chg="mod">
          <ac:chgData name="Bibhu Asish Panda" userId="22597e5222773c0b" providerId="LiveId" clId="{E60CB3FE-77E3-4F0D-8D4A-281671C3A593}" dt="2026-03-14T00:52:14.643" v="329" actId="255"/>
          <ac:grpSpMkLst>
            <pc:docMk/>
            <pc:sldMk cId="2117360372" sldId="268"/>
            <ac:grpSpMk id="12" creationId="{58273BA8-7A00-7FB7-B37F-B34CB83588AD}"/>
          </ac:grpSpMkLst>
        </pc:grpChg>
        <pc:grpChg chg="mod">
          <ac:chgData name="Bibhu Asish Panda" userId="22597e5222773c0b" providerId="LiveId" clId="{E60CB3FE-77E3-4F0D-8D4A-281671C3A593}" dt="2026-03-14T00:52:44.578" v="334" actId="14100"/>
          <ac:grpSpMkLst>
            <pc:docMk/>
            <pc:sldMk cId="2117360372" sldId="268"/>
            <ac:grpSpMk id="13" creationId="{6CFE52D6-77F5-0907-8FE7-0BCB5672F95E}"/>
          </ac:grpSpMkLst>
        </pc:grpChg>
        <pc:picChg chg="mod">
          <ac:chgData name="Bibhu Asish Panda" userId="22597e5222773c0b" providerId="LiveId" clId="{E60CB3FE-77E3-4F0D-8D4A-281671C3A593}" dt="2026-03-14T00:52:50.923" v="335" actId="1076"/>
          <ac:picMkLst>
            <pc:docMk/>
            <pc:sldMk cId="2117360372" sldId="268"/>
            <ac:picMk id="4" creationId="{C6F226B7-EEFC-DA2B-AAA4-BA6546CAE50D}"/>
          </ac:picMkLst>
        </pc:picChg>
      </pc:sldChg>
      <pc:sldChg chg="modSp mod">
        <pc:chgData name="Bibhu Asish Panda" userId="22597e5222773c0b" providerId="LiveId" clId="{E60CB3FE-77E3-4F0D-8D4A-281671C3A593}" dt="2026-03-14T01:23:17.395" v="415" actId="207"/>
        <pc:sldMkLst>
          <pc:docMk/>
          <pc:sldMk cId="281652888" sldId="269"/>
        </pc:sldMkLst>
        <pc:spChg chg="mod">
          <ac:chgData name="Bibhu Asish Panda" userId="22597e5222773c0b" providerId="LiveId" clId="{E60CB3FE-77E3-4F0D-8D4A-281671C3A593}" dt="2026-03-14T01:23:17.395" v="415" actId="207"/>
          <ac:spMkLst>
            <pc:docMk/>
            <pc:sldMk cId="281652888" sldId="269"/>
            <ac:spMk id="8" creationId="{8898A290-E0CA-479C-9689-AAF8610911E9}"/>
          </ac:spMkLst>
        </pc:spChg>
      </pc:sldChg>
      <pc:sldChg chg="modSp mod">
        <pc:chgData name="Bibhu Asish Panda" userId="22597e5222773c0b" providerId="LiveId" clId="{E60CB3FE-77E3-4F0D-8D4A-281671C3A593}" dt="2026-03-14T01:23:23.414" v="416" actId="207"/>
        <pc:sldMkLst>
          <pc:docMk/>
          <pc:sldMk cId="870274923" sldId="270"/>
        </pc:sldMkLst>
        <pc:spChg chg="mod">
          <ac:chgData name="Bibhu Asish Panda" userId="22597e5222773c0b" providerId="LiveId" clId="{E60CB3FE-77E3-4F0D-8D4A-281671C3A593}" dt="2026-03-14T00:51:05.408" v="321" actId="14100"/>
          <ac:spMkLst>
            <pc:docMk/>
            <pc:sldMk cId="870274923" sldId="270"/>
            <ac:spMk id="3" creationId="{46F83EF3-C07D-1A79-1A9A-70E1999D06ED}"/>
          </ac:spMkLst>
        </pc:spChg>
        <pc:spChg chg="mod">
          <ac:chgData name="Bibhu Asish Panda" userId="22597e5222773c0b" providerId="LiveId" clId="{E60CB3FE-77E3-4F0D-8D4A-281671C3A593}" dt="2026-03-14T01:23:23.414" v="416" actId="207"/>
          <ac:spMkLst>
            <pc:docMk/>
            <pc:sldMk cId="870274923" sldId="270"/>
            <ac:spMk id="6" creationId="{8078B1BB-C888-DD4B-D449-1E2E440AFD17}"/>
          </ac:spMkLst>
        </pc:spChg>
        <pc:grpChg chg="mod">
          <ac:chgData name="Bibhu Asish Panda" userId="22597e5222773c0b" providerId="LiveId" clId="{E60CB3FE-77E3-4F0D-8D4A-281671C3A593}" dt="2026-03-14T00:51:19.731" v="325" actId="14100"/>
          <ac:grpSpMkLst>
            <pc:docMk/>
            <pc:sldMk cId="870274923" sldId="270"/>
            <ac:grpSpMk id="2" creationId="{CF5884E4-5801-FDB1-F316-044F7D071BBE}"/>
          </ac:grpSpMkLst>
        </pc:grpChg>
      </pc:sldChg>
      <pc:sldChg chg="modSp mod">
        <pc:chgData name="Bibhu Asish Panda" userId="22597e5222773c0b" providerId="LiveId" clId="{E60CB3FE-77E3-4F0D-8D4A-281671C3A593}" dt="2026-03-14T01:23:04.056" v="413" actId="207"/>
        <pc:sldMkLst>
          <pc:docMk/>
          <pc:sldMk cId="3505853353" sldId="271"/>
        </pc:sldMkLst>
        <pc:spChg chg="mod">
          <ac:chgData name="Bibhu Asish Panda" userId="22597e5222773c0b" providerId="LiveId" clId="{E60CB3FE-77E3-4F0D-8D4A-281671C3A593}" dt="2026-03-14T00:54:27.819" v="359" actId="20577"/>
          <ac:spMkLst>
            <pc:docMk/>
            <pc:sldMk cId="3505853353" sldId="271"/>
            <ac:spMk id="3" creationId="{73203E25-D86D-D7EE-D23F-FB7AE4817E60}"/>
          </ac:spMkLst>
        </pc:spChg>
        <pc:spChg chg="mod">
          <ac:chgData name="Bibhu Asish Panda" userId="22597e5222773c0b" providerId="LiveId" clId="{E60CB3FE-77E3-4F0D-8D4A-281671C3A593}" dt="2026-03-14T01:23:04.056" v="413" actId="207"/>
          <ac:spMkLst>
            <pc:docMk/>
            <pc:sldMk cId="3505853353" sldId="271"/>
            <ac:spMk id="6" creationId="{14AF6F73-4599-D6CE-0CA2-CDD21DA8B509}"/>
          </ac:spMkLst>
        </pc:spChg>
        <pc:spChg chg="mod">
          <ac:chgData name="Bibhu Asish Panda" userId="22597e5222773c0b" providerId="LiveId" clId="{E60CB3FE-77E3-4F0D-8D4A-281671C3A593}" dt="2026-03-14T00:54:08.907" v="344" actId="14100"/>
          <ac:spMkLst>
            <pc:docMk/>
            <pc:sldMk cId="3505853353" sldId="271"/>
            <ac:spMk id="7" creationId="{52662368-2326-5B8F-1076-2F694D552546}"/>
          </ac:spMkLst>
        </pc:spChg>
      </pc:sldChg>
      <pc:sldChg chg="modSp mod">
        <pc:chgData name="Bibhu Asish Panda" userId="22597e5222773c0b" providerId="LiveId" clId="{E60CB3FE-77E3-4F0D-8D4A-281671C3A593}" dt="2026-03-14T01:23:30.925" v="417" actId="207"/>
        <pc:sldMkLst>
          <pc:docMk/>
          <pc:sldMk cId="127129604" sldId="272"/>
        </pc:sldMkLst>
        <pc:spChg chg="mod">
          <ac:chgData name="Bibhu Asish Panda" userId="22597e5222773c0b" providerId="LiveId" clId="{E60CB3FE-77E3-4F0D-8D4A-281671C3A593}" dt="2026-03-14T01:23:30.925" v="417" actId="207"/>
          <ac:spMkLst>
            <pc:docMk/>
            <pc:sldMk cId="127129604" sldId="272"/>
            <ac:spMk id="2" creationId="{1C3CE7FC-9364-07CE-344F-DAB92AF8953C}"/>
          </ac:spMkLst>
        </pc:spChg>
      </pc:sldChg>
      <pc:sldChg chg="addSp modSp mod">
        <pc:chgData name="Bibhu Asish Panda" userId="22597e5222773c0b" providerId="LiveId" clId="{E60CB3FE-77E3-4F0D-8D4A-281671C3A593}" dt="2026-03-14T01:23:45.285" v="419" actId="207"/>
        <pc:sldMkLst>
          <pc:docMk/>
          <pc:sldMk cId="1601869646" sldId="274"/>
        </pc:sldMkLst>
        <pc:spChg chg="mod">
          <ac:chgData name="Bibhu Asish Panda" userId="22597e5222773c0b" providerId="LiveId" clId="{E60CB3FE-77E3-4F0D-8D4A-281671C3A593}" dt="2026-03-14T00:46:38.533" v="274" actId="404"/>
          <ac:spMkLst>
            <pc:docMk/>
            <pc:sldMk cId="1601869646" sldId="274"/>
            <ac:spMk id="3" creationId="{D8B9B12C-7573-231C-E5B1-A5AD3D7C41A4}"/>
          </ac:spMkLst>
        </pc:spChg>
        <pc:spChg chg="mod">
          <ac:chgData name="Bibhu Asish Panda" userId="22597e5222773c0b" providerId="LiveId" clId="{E60CB3FE-77E3-4F0D-8D4A-281671C3A593}" dt="2026-03-14T00:46:42.902" v="275" actId="1076"/>
          <ac:spMkLst>
            <pc:docMk/>
            <pc:sldMk cId="1601869646" sldId="274"/>
            <ac:spMk id="5" creationId="{C273715B-9341-12C2-2B16-66E03AF9C02D}"/>
          </ac:spMkLst>
        </pc:spChg>
        <pc:spChg chg="mod">
          <ac:chgData name="Bibhu Asish Panda" userId="22597e5222773c0b" providerId="LiveId" clId="{E60CB3FE-77E3-4F0D-8D4A-281671C3A593}" dt="2026-03-14T01:23:45.285" v="419" actId="207"/>
          <ac:spMkLst>
            <pc:docMk/>
            <pc:sldMk cId="1601869646" sldId="274"/>
            <ac:spMk id="8" creationId="{1BEA16CB-8F68-DEF2-F876-4A82FB86CBE2}"/>
          </ac:spMkLst>
        </pc:spChg>
        <pc:grpChg chg="add mod">
          <ac:chgData name="Bibhu Asish Panda" userId="22597e5222773c0b" providerId="LiveId" clId="{E60CB3FE-77E3-4F0D-8D4A-281671C3A593}" dt="2026-03-14T00:46:42.902" v="275" actId="1076"/>
          <ac:grpSpMkLst>
            <pc:docMk/>
            <pc:sldMk cId="1601869646" sldId="274"/>
            <ac:grpSpMk id="2" creationId="{59D084CD-8C7D-AEC0-2C50-CF8FD6013362}"/>
          </ac:grpSpMkLst>
        </pc:grpChg>
        <pc:grpChg chg="mod">
          <ac:chgData name="Bibhu Asish Panda" userId="22597e5222773c0b" providerId="LiveId" clId="{E60CB3FE-77E3-4F0D-8D4A-281671C3A593}" dt="2026-03-14T00:47:06.572" v="279" actId="1076"/>
          <ac:grpSpMkLst>
            <pc:docMk/>
            <pc:sldMk cId="1601869646" sldId="274"/>
            <ac:grpSpMk id="7" creationId="{E864FEDA-5528-DF3B-0D4E-8058ACEE815A}"/>
          </ac:grpSpMkLst>
        </pc:grpChg>
        <pc:picChg chg="mod">
          <ac:chgData name="Bibhu Asish Panda" userId="22597e5222773c0b" providerId="LiveId" clId="{E60CB3FE-77E3-4F0D-8D4A-281671C3A593}" dt="2026-03-14T00:46:42.902" v="275" actId="1076"/>
          <ac:picMkLst>
            <pc:docMk/>
            <pc:sldMk cId="1601869646" sldId="274"/>
            <ac:picMk id="3074" creationId="{C9DF2CE9-28B3-7C83-38B7-2F94AB3A8F7E}"/>
          </ac:picMkLst>
        </pc:picChg>
      </pc:sldChg>
      <pc:sldChg chg="modSp mod">
        <pc:chgData name="Bibhu Asish Panda" userId="22597e5222773c0b" providerId="LiveId" clId="{E60CB3FE-77E3-4F0D-8D4A-281671C3A593}" dt="2026-03-14T01:25:27.371" v="433" actId="207"/>
        <pc:sldMkLst>
          <pc:docMk/>
          <pc:sldMk cId="98664984" sldId="277"/>
        </pc:sldMkLst>
        <pc:spChg chg="mod">
          <ac:chgData name="Bibhu Asish Panda" userId="22597e5222773c0b" providerId="LiveId" clId="{E60CB3FE-77E3-4F0D-8D4A-281671C3A593}" dt="2026-03-14T01:25:27.371" v="433" actId="207"/>
          <ac:spMkLst>
            <pc:docMk/>
            <pc:sldMk cId="98664984" sldId="277"/>
            <ac:spMk id="5" creationId="{9215DD21-4DFE-4DA6-A5B0-89E2CC5572DC}"/>
          </ac:spMkLst>
        </pc:spChg>
      </pc:sldChg>
      <pc:sldChg chg="modSp mod">
        <pc:chgData name="Bibhu Asish Panda" userId="22597e5222773c0b" providerId="LiveId" clId="{E60CB3FE-77E3-4F0D-8D4A-281671C3A593}" dt="2026-03-14T01:36:15.190" v="501" actId="20577"/>
        <pc:sldMkLst>
          <pc:docMk/>
          <pc:sldMk cId="1115149340" sldId="279"/>
        </pc:sldMkLst>
        <pc:spChg chg="mod">
          <ac:chgData name="Bibhu Asish Panda" userId="22597e5222773c0b" providerId="LiveId" clId="{E60CB3FE-77E3-4F0D-8D4A-281671C3A593}" dt="2026-03-14T01:23:52.473" v="420" actId="207"/>
          <ac:spMkLst>
            <pc:docMk/>
            <pc:sldMk cId="1115149340" sldId="279"/>
            <ac:spMk id="8" creationId="{2A0EFBAB-4E13-2B5F-F1D9-C42E16A73516}"/>
          </ac:spMkLst>
        </pc:spChg>
        <pc:graphicFrameChg chg="modGraphic">
          <ac:chgData name="Bibhu Asish Panda" userId="22597e5222773c0b" providerId="LiveId" clId="{E60CB3FE-77E3-4F0D-8D4A-281671C3A593}" dt="2026-03-14T01:36:15.190" v="501" actId="20577"/>
          <ac:graphicFrameMkLst>
            <pc:docMk/>
            <pc:sldMk cId="1115149340" sldId="279"/>
            <ac:graphicFrameMk id="16" creationId="{EB3273AF-7997-AEFF-9240-40D9B3408E11}"/>
          </ac:graphicFrameMkLst>
        </pc:graphicFrameChg>
      </pc:sldChg>
      <pc:sldChg chg="modSp mod">
        <pc:chgData name="Bibhu Asish Panda" userId="22597e5222773c0b" providerId="LiveId" clId="{E60CB3FE-77E3-4F0D-8D4A-281671C3A593}" dt="2026-03-14T01:25:48.982" v="437" actId="207"/>
        <pc:sldMkLst>
          <pc:docMk/>
          <pc:sldMk cId="2636020685" sldId="280"/>
        </pc:sldMkLst>
        <pc:spChg chg="mod">
          <ac:chgData name="Bibhu Asish Panda" userId="22597e5222773c0b" providerId="LiveId" clId="{E60CB3FE-77E3-4F0D-8D4A-281671C3A593}" dt="2026-03-14T01:25:48.982" v="437" actId="207"/>
          <ac:spMkLst>
            <pc:docMk/>
            <pc:sldMk cId="2636020685" sldId="280"/>
            <ac:spMk id="5" creationId="{A94F5C31-D3D3-0453-DE6A-84CA3408710B}"/>
          </ac:spMkLst>
        </pc:spChg>
      </pc:sldChg>
      <pc:sldChg chg="addSp modSp mod">
        <pc:chgData name="Bibhu Asish Panda" userId="22597e5222773c0b" providerId="LiveId" clId="{E60CB3FE-77E3-4F0D-8D4A-281671C3A593}" dt="2026-03-14T01:24:26.758" v="424" actId="207"/>
        <pc:sldMkLst>
          <pc:docMk/>
          <pc:sldMk cId="3332025200" sldId="282"/>
        </pc:sldMkLst>
        <pc:spChg chg="mod">
          <ac:chgData name="Bibhu Asish Panda" userId="22597e5222773c0b" providerId="LiveId" clId="{E60CB3FE-77E3-4F0D-8D4A-281671C3A593}" dt="2026-03-14T00:43:37.390" v="243" actId="20577"/>
          <ac:spMkLst>
            <pc:docMk/>
            <pc:sldMk cId="3332025200" sldId="282"/>
            <ac:spMk id="4" creationId="{1D5698DF-74C7-A187-AC74-93873D3BDEF0}"/>
          </ac:spMkLst>
        </pc:spChg>
        <pc:spChg chg="mod">
          <ac:chgData name="Bibhu Asish Panda" userId="22597e5222773c0b" providerId="LiveId" clId="{E60CB3FE-77E3-4F0D-8D4A-281671C3A593}" dt="2026-03-14T00:43:41.800" v="245" actId="20577"/>
          <ac:spMkLst>
            <pc:docMk/>
            <pc:sldMk cId="3332025200" sldId="282"/>
            <ac:spMk id="7" creationId="{D09E90BA-1440-E9F3-B841-C9E1EA8D6E78}"/>
          </ac:spMkLst>
        </pc:spChg>
        <pc:spChg chg="mod">
          <ac:chgData name="Bibhu Asish Panda" userId="22597e5222773c0b" providerId="LiveId" clId="{E60CB3FE-77E3-4F0D-8D4A-281671C3A593}" dt="2026-03-14T01:24:26.758" v="424" actId="207"/>
          <ac:spMkLst>
            <pc:docMk/>
            <pc:sldMk cId="3332025200" sldId="282"/>
            <ac:spMk id="8" creationId="{0F7EC35A-B018-6051-C4A0-141B9501A749}"/>
          </ac:spMkLst>
        </pc:spChg>
        <pc:spChg chg="mod">
          <ac:chgData name="Bibhu Asish Panda" userId="22597e5222773c0b" providerId="LiveId" clId="{E60CB3FE-77E3-4F0D-8D4A-281671C3A593}" dt="2026-03-14T00:44:32.452" v="251" actId="1076"/>
          <ac:spMkLst>
            <pc:docMk/>
            <pc:sldMk cId="3332025200" sldId="282"/>
            <ac:spMk id="9" creationId="{F09FC53B-D0A8-86BC-5304-4AFD0BC6B19A}"/>
          </ac:spMkLst>
        </pc:spChg>
        <pc:spChg chg="mod">
          <ac:chgData name="Bibhu Asish Panda" userId="22597e5222773c0b" providerId="LiveId" clId="{E60CB3FE-77E3-4F0D-8D4A-281671C3A593}" dt="2026-03-14T00:20:13.320" v="55" actId="1076"/>
          <ac:spMkLst>
            <pc:docMk/>
            <pc:sldMk cId="3332025200" sldId="282"/>
            <ac:spMk id="10" creationId="{FE2FC6D2-0988-0E77-9950-084F1B8E44EC}"/>
          </ac:spMkLst>
        </pc:spChg>
        <pc:grpChg chg="mod">
          <ac:chgData name="Bibhu Asish Panda" userId="22597e5222773c0b" providerId="LiveId" clId="{E60CB3FE-77E3-4F0D-8D4A-281671C3A593}" dt="2026-03-14T00:44:19.972" v="250" actId="14100"/>
          <ac:grpSpMkLst>
            <pc:docMk/>
            <pc:sldMk cId="3332025200" sldId="282"/>
            <ac:grpSpMk id="2" creationId="{A3DA8C01-5D1C-9B40-03B2-236787970EBF}"/>
          </ac:grpSpMkLst>
        </pc:grpChg>
        <pc:grpChg chg="add mod">
          <ac:chgData name="Bibhu Asish Panda" userId="22597e5222773c0b" providerId="LiveId" clId="{E60CB3FE-77E3-4F0D-8D4A-281671C3A593}" dt="2026-03-14T00:44:38.462" v="252" actId="14100"/>
          <ac:grpSpMkLst>
            <pc:docMk/>
            <pc:sldMk cId="3332025200" sldId="282"/>
            <ac:grpSpMk id="5" creationId="{BC898A4F-1BC3-820D-156B-94CB4A33D82D}"/>
          </ac:grpSpMkLst>
        </pc:grpChg>
        <pc:picChg chg="mod">
          <ac:chgData name="Bibhu Asish Panda" userId="22597e5222773c0b" providerId="LiveId" clId="{E60CB3FE-77E3-4F0D-8D4A-281671C3A593}" dt="2026-03-14T00:18:27.582" v="35" actId="14100"/>
          <ac:picMkLst>
            <pc:docMk/>
            <pc:sldMk cId="3332025200" sldId="282"/>
            <ac:picMk id="6" creationId="{B6A6ADA3-49DC-E6CB-9BF4-21FA9B610CDE}"/>
          </ac:picMkLst>
        </pc:picChg>
        <pc:picChg chg="mod">
          <ac:chgData name="Bibhu Asish Panda" userId="22597e5222773c0b" providerId="LiveId" clId="{E60CB3FE-77E3-4F0D-8D4A-281671C3A593}" dt="2026-03-14T00:20:32.751" v="58" actId="14100"/>
          <ac:picMkLst>
            <pc:docMk/>
            <pc:sldMk cId="3332025200" sldId="282"/>
            <ac:picMk id="6146" creationId="{B8685C91-8FA6-E849-498C-CCC1328B7BFD}"/>
          </ac:picMkLst>
        </pc:picChg>
      </pc:sldChg>
      <pc:sldChg chg="addSp modSp mod">
        <pc:chgData name="Bibhu Asish Panda" userId="22597e5222773c0b" providerId="LiveId" clId="{E60CB3FE-77E3-4F0D-8D4A-281671C3A593}" dt="2026-03-14T01:24:32.281" v="425" actId="207"/>
        <pc:sldMkLst>
          <pc:docMk/>
          <pc:sldMk cId="1686048708" sldId="285"/>
        </pc:sldMkLst>
        <pc:spChg chg="mod">
          <ac:chgData name="Bibhu Asish Panda" userId="22597e5222773c0b" providerId="LiveId" clId="{E60CB3FE-77E3-4F0D-8D4A-281671C3A593}" dt="2026-03-14T00:26:13.977" v="109" actId="20577"/>
          <ac:spMkLst>
            <pc:docMk/>
            <pc:sldMk cId="1686048708" sldId="285"/>
            <ac:spMk id="4" creationId="{72BB6F81-373B-82CC-F073-25DE670C5625}"/>
          </ac:spMkLst>
        </pc:spChg>
        <pc:spChg chg="mod">
          <ac:chgData name="Bibhu Asish Panda" userId="22597e5222773c0b" providerId="LiveId" clId="{E60CB3FE-77E3-4F0D-8D4A-281671C3A593}" dt="2026-03-14T01:24:32.281" v="425" actId="207"/>
          <ac:spMkLst>
            <pc:docMk/>
            <pc:sldMk cId="1686048708" sldId="285"/>
            <ac:spMk id="5" creationId="{FB14F626-4272-D2B3-201A-FEB7DBF20B32}"/>
          </ac:spMkLst>
        </pc:spChg>
        <pc:spChg chg="mod">
          <ac:chgData name="Bibhu Asish Panda" userId="22597e5222773c0b" providerId="LiveId" clId="{E60CB3FE-77E3-4F0D-8D4A-281671C3A593}" dt="2026-03-14T00:35:28.936" v="149" actId="14100"/>
          <ac:spMkLst>
            <pc:docMk/>
            <pc:sldMk cId="1686048708" sldId="285"/>
            <ac:spMk id="9" creationId="{796E6787-1784-3CF1-9687-971A7A90FF76}"/>
          </ac:spMkLst>
        </pc:spChg>
        <pc:spChg chg="mod">
          <ac:chgData name="Bibhu Asish Panda" userId="22597e5222773c0b" providerId="LiveId" clId="{E60CB3FE-77E3-4F0D-8D4A-281671C3A593}" dt="2026-03-14T00:26:09.476" v="105" actId="20577"/>
          <ac:spMkLst>
            <pc:docMk/>
            <pc:sldMk cId="1686048708" sldId="285"/>
            <ac:spMk id="11" creationId="{61C3F4A2-65B3-A495-6643-CB30C99F2023}"/>
          </ac:spMkLst>
        </pc:spChg>
        <pc:grpChg chg="add mod">
          <ac:chgData name="Bibhu Asish Panda" userId="22597e5222773c0b" providerId="LiveId" clId="{E60CB3FE-77E3-4F0D-8D4A-281671C3A593}" dt="2026-03-14T00:35:55.856" v="152" actId="14100"/>
          <ac:grpSpMkLst>
            <pc:docMk/>
            <pc:sldMk cId="1686048708" sldId="285"/>
            <ac:grpSpMk id="2" creationId="{F9777644-D1EC-6298-3C52-A960B613EA8F}"/>
          </ac:grpSpMkLst>
        </pc:grpChg>
        <pc:grpChg chg="mod">
          <ac:chgData name="Bibhu Asish Panda" userId="22597e5222773c0b" providerId="LiveId" clId="{E60CB3FE-77E3-4F0D-8D4A-281671C3A593}" dt="2026-03-14T00:36:05.905" v="154" actId="14100"/>
          <ac:grpSpMkLst>
            <pc:docMk/>
            <pc:sldMk cId="1686048708" sldId="285"/>
            <ac:grpSpMk id="7" creationId="{4923618C-6F90-264D-B7CF-7E4786E538E4}"/>
          </ac:grpSpMkLst>
        </pc:grpChg>
        <pc:picChg chg="mod">
          <ac:chgData name="Bibhu Asish Panda" userId="22597e5222773c0b" providerId="LiveId" clId="{E60CB3FE-77E3-4F0D-8D4A-281671C3A593}" dt="2026-03-14T00:24:19.572" v="91"/>
          <ac:picMkLst>
            <pc:docMk/>
            <pc:sldMk cId="1686048708" sldId="285"/>
            <ac:picMk id="3" creationId="{268ECE81-3506-BA20-F357-25AE5664EBBC}"/>
          </ac:picMkLst>
        </pc:picChg>
        <pc:picChg chg="mod">
          <ac:chgData name="Bibhu Asish Panda" userId="22597e5222773c0b" providerId="LiveId" clId="{E60CB3FE-77E3-4F0D-8D4A-281671C3A593}" dt="2026-03-14T00:33:45.171" v="128" actId="14100"/>
          <ac:picMkLst>
            <pc:docMk/>
            <pc:sldMk cId="1686048708" sldId="285"/>
            <ac:picMk id="6146" creationId="{A00F3E55-A6FF-D3B9-0666-A99EC09F1F19}"/>
          </ac:picMkLst>
        </pc:picChg>
      </pc:sldChg>
      <pc:sldChg chg="addSp modSp mod">
        <pc:chgData name="Bibhu Asish Panda" userId="22597e5222773c0b" providerId="LiveId" clId="{E60CB3FE-77E3-4F0D-8D4A-281671C3A593}" dt="2026-03-14T01:24:38.080" v="426" actId="207"/>
        <pc:sldMkLst>
          <pc:docMk/>
          <pc:sldMk cId="598462405" sldId="286"/>
        </pc:sldMkLst>
        <pc:spChg chg="mod">
          <ac:chgData name="Bibhu Asish Panda" userId="22597e5222773c0b" providerId="LiveId" clId="{E60CB3FE-77E3-4F0D-8D4A-281671C3A593}" dt="2026-03-14T00:23:41.046" v="87" actId="20577"/>
          <ac:spMkLst>
            <pc:docMk/>
            <pc:sldMk cId="598462405" sldId="286"/>
            <ac:spMk id="4" creationId="{4D7F6083-3828-5314-6CB0-DAB8D3FC0781}"/>
          </ac:spMkLst>
        </pc:spChg>
        <pc:spChg chg="mod">
          <ac:chgData name="Bibhu Asish Panda" userId="22597e5222773c0b" providerId="LiveId" clId="{E60CB3FE-77E3-4F0D-8D4A-281671C3A593}" dt="2026-03-14T00:42:17.239" v="229" actId="14100"/>
          <ac:spMkLst>
            <pc:docMk/>
            <pc:sldMk cId="598462405" sldId="286"/>
            <ac:spMk id="5" creationId="{49ED2850-FE1A-3207-6624-55EBB5C6CFB4}"/>
          </ac:spMkLst>
        </pc:spChg>
        <pc:spChg chg="mod">
          <ac:chgData name="Bibhu Asish Panda" userId="22597e5222773c0b" providerId="LiveId" clId="{E60CB3FE-77E3-4F0D-8D4A-281671C3A593}" dt="2026-03-14T00:23:36.376" v="85" actId="20577"/>
          <ac:spMkLst>
            <pc:docMk/>
            <pc:sldMk cId="598462405" sldId="286"/>
            <ac:spMk id="8" creationId="{8F091ED5-530B-CED9-9EDF-03FFB90E9DBF}"/>
          </ac:spMkLst>
        </pc:spChg>
        <pc:spChg chg="mod">
          <ac:chgData name="Bibhu Asish Panda" userId="22597e5222773c0b" providerId="LiveId" clId="{E60CB3FE-77E3-4F0D-8D4A-281671C3A593}" dt="2026-03-14T00:42:21.825" v="230" actId="14100"/>
          <ac:spMkLst>
            <pc:docMk/>
            <pc:sldMk cId="598462405" sldId="286"/>
            <ac:spMk id="9" creationId="{AF1E6C54-50F8-B412-FCBB-9F6E8664E406}"/>
          </ac:spMkLst>
        </pc:spChg>
        <pc:spChg chg="mod">
          <ac:chgData name="Bibhu Asish Panda" userId="22597e5222773c0b" providerId="LiveId" clId="{E60CB3FE-77E3-4F0D-8D4A-281671C3A593}" dt="2026-03-14T01:24:38.080" v="426" actId="207"/>
          <ac:spMkLst>
            <pc:docMk/>
            <pc:sldMk cId="598462405" sldId="286"/>
            <ac:spMk id="11" creationId="{3A4B37DB-81B0-8CD3-A7FD-F78384733026}"/>
          </ac:spMkLst>
        </pc:spChg>
        <pc:grpChg chg="add mod">
          <ac:chgData name="Bibhu Asish Panda" userId="22597e5222773c0b" providerId="LiveId" clId="{E60CB3FE-77E3-4F0D-8D4A-281671C3A593}" dt="2026-03-14T00:42:44.838" v="235" actId="14100"/>
          <ac:grpSpMkLst>
            <pc:docMk/>
            <pc:sldMk cId="598462405" sldId="286"/>
            <ac:grpSpMk id="2" creationId="{89F48B87-30D4-5162-FD45-B0E8B7531392}"/>
          </ac:grpSpMkLst>
        </pc:grpChg>
        <pc:grpChg chg="mod">
          <ac:chgData name="Bibhu Asish Panda" userId="22597e5222773c0b" providerId="LiveId" clId="{E60CB3FE-77E3-4F0D-8D4A-281671C3A593}" dt="2026-03-14T00:42:38.315" v="234" actId="14100"/>
          <ac:grpSpMkLst>
            <pc:docMk/>
            <pc:sldMk cId="598462405" sldId="286"/>
            <ac:grpSpMk id="6" creationId="{A5D074E8-4119-D82F-ADC7-C01D42032C1B}"/>
          </ac:grpSpMkLst>
        </pc:grpChg>
        <pc:picChg chg="mod">
          <ac:chgData name="Bibhu Asish Panda" userId="22597e5222773c0b" providerId="LiveId" clId="{E60CB3FE-77E3-4F0D-8D4A-281671C3A593}" dt="2026-03-14T00:22:26.150" v="70"/>
          <ac:picMkLst>
            <pc:docMk/>
            <pc:sldMk cId="598462405" sldId="286"/>
            <ac:picMk id="3" creationId="{AB4AD5FA-88E8-BF43-AC54-C6BA105D5A28}"/>
          </ac:picMkLst>
        </pc:picChg>
        <pc:picChg chg="mod">
          <ac:chgData name="Bibhu Asish Panda" userId="22597e5222773c0b" providerId="LiveId" clId="{E60CB3FE-77E3-4F0D-8D4A-281671C3A593}" dt="2026-03-14T00:22:06.973" v="68" actId="14100"/>
          <ac:picMkLst>
            <pc:docMk/>
            <pc:sldMk cId="598462405" sldId="286"/>
            <ac:picMk id="7" creationId="{92C8DA75-683F-4E3A-804E-053C9A51ED23}"/>
          </ac:picMkLst>
        </pc:picChg>
        <pc:picChg chg="mod">
          <ac:chgData name="Bibhu Asish Panda" userId="22597e5222773c0b" providerId="LiveId" clId="{E60CB3FE-77E3-4F0D-8D4A-281671C3A593}" dt="2026-03-14T00:41:16.090" v="221" actId="14100"/>
          <ac:picMkLst>
            <pc:docMk/>
            <pc:sldMk cId="598462405" sldId="286"/>
            <ac:picMk id="6146" creationId="{CF9C3851-31E4-2343-F817-3C4E2DE7AEE6}"/>
          </ac:picMkLst>
        </pc:picChg>
      </pc:sldChg>
      <pc:sldChg chg="addSp modSp mod">
        <pc:chgData name="Bibhu Asish Panda" userId="22597e5222773c0b" providerId="LiveId" clId="{E60CB3FE-77E3-4F0D-8D4A-281671C3A593}" dt="2026-03-14T01:24:46.145" v="427" actId="207"/>
        <pc:sldMkLst>
          <pc:docMk/>
          <pc:sldMk cId="1348085133" sldId="287"/>
        </pc:sldMkLst>
        <pc:spChg chg="mod">
          <ac:chgData name="Bibhu Asish Panda" userId="22597e5222773c0b" providerId="LiveId" clId="{E60CB3FE-77E3-4F0D-8D4A-281671C3A593}" dt="2026-03-14T00:26:23.216" v="115" actId="20577"/>
          <ac:spMkLst>
            <pc:docMk/>
            <pc:sldMk cId="1348085133" sldId="287"/>
            <ac:spMk id="4" creationId="{6A552043-827F-2086-6DFB-20FBD9BF7F32}"/>
          </ac:spMkLst>
        </pc:spChg>
        <pc:spChg chg="mod">
          <ac:chgData name="Bibhu Asish Panda" userId="22597e5222773c0b" providerId="LiveId" clId="{E60CB3FE-77E3-4F0D-8D4A-281671C3A593}" dt="2026-03-14T00:26:19.242" v="113" actId="20577"/>
          <ac:spMkLst>
            <pc:docMk/>
            <pc:sldMk cId="1348085133" sldId="287"/>
            <ac:spMk id="7" creationId="{4CD69AC8-0EAB-6A2E-0934-7FA2C2CEB5D3}"/>
          </ac:spMkLst>
        </pc:spChg>
        <pc:spChg chg="mod">
          <ac:chgData name="Bibhu Asish Panda" userId="22597e5222773c0b" providerId="LiveId" clId="{E60CB3FE-77E3-4F0D-8D4A-281671C3A593}" dt="2026-03-14T01:24:46.145" v="427" actId="207"/>
          <ac:spMkLst>
            <pc:docMk/>
            <pc:sldMk cId="1348085133" sldId="287"/>
            <ac:spMk id="8" creationId="{19443198-B81A-6975-0951-C41B9670E061}"/>
          </ac:spMkLst>
        </pc:spChg>
        <pc:spChg chg="mod">
          <ac:chgData name="Bibhu Asish Panda" userId="22597e5222773c0b" providerId="LiveId" clId="{E60CB3FE-77E3-4F0D-8D4A-281671C3A593}" dt="2026-03-14T00:36:58.138" v="174" actId="12"/>
          <ac:spMkLst>
            <pc:docMk/>
            <pc:sldMk cId="1348085133" sldId="287"/>
            <ac:spMk id="9" creationId="{7A37F742-09C1-A35D-92EB-A56B95E67BE5}"/>
          </ac:spMkLst>
        </pc:spChg>
        <pc:spChg chg="mod">
          <ac:chgData name="Bibhu Asish Panda" userId="22597e5222773c0b" providerId="LiveId" clId="{E60CB3FE-77E3-4F0D-8D4A-281671C3A593}" dt="2026-03-14T00:40:56.190" v="220" actId="1076"/>
          <ac:spMkLst>
            <pc:docMk/>
            <pc:sldMk cId="1348085133" sldId="287"/>
            <ac:spMk id="10" creationId="{20235F5E-5D8E-C844-468A-9DB7F49E2E6C}"/>
          </ac:spMkLst>
        </pc:spChg>
        <pc:grpChg chg="add mod">
          <ac:chgData name="Bibhu Asish Panda" userId="22597e5222773c0b" providerId="LiveId" clId="{E60CB3FE-77E3-4F0D-8D4A-281671C3A593}" dt="2026-03-14T00:37:12.344" v="177" actId="14100"/>
          <ac:grpSpMkLst>
            <pc:docMk/>
            <pc:sldMk cId="1348085133" sldId="287"/>
            <ac:grpSpMk id="2" creationId="{493356BA-4CD8-5F0D-6E92-B50AD0364A6B}"/>
          </ac:grpSpMkLst>
        </pc:grpChg>
        <pc:grpChg chg="mod">
          <ac:chgData name="Bibhu Asish Panda" userId="22597e5222773c0b" providerId="LiveId" clId="{E60CB3FE-77E3-4F0D-8D4A-281671C3A593}" dt="2026-03-14T00:37:18.158" v="178" actId="14100"/>
          <ac:grpSpMkLst>
            <pc:docMk/>
            <pc:sldMk cId="1348085133" sldId="287"/>
            <ac:grpSpMk id="5" creationId="{E097CC4E-5907-B741-4965-1A64103EF57C}"/>
          </ac:grpSpMkLst>
        </pc:grpChg>
        <pc:picChg chg="mod">
          <ac:chgData name="Bibhu Asish Panda" userId="22597e5222773c0b" providerId="LiveId" clId="{E60CB3FE-77E3-4F0D-8D4A-281671C3A593}" dt="2026-03-14T00:25:27.408" v="98"/>
          <ac:picMkLst>
            <pc:docMk/>
            <pc:sldMk cId="1348085133" sldId="287"/>
            <ac:picMk id="3" creationId="{D5DB5C6A-3B54-C8D0-2239-C696109B9E00}"/>
          </ac:picMkLst>
        </pc:picChg>
        <pc:picChg chg="mod">
          <ac:chgData name="Bibhu Asish Panda" userId="22597e5222773c0b" providerId="LiveId" clId="{E60CB3FE-77E3-4F0D-8D4A-281671C3A593}" dt="2026-03-14T00:40:45.726" v="219" actId="14100"/>
          <ac:picMkLst>
            <pc:docMk/>
            <pc:sldMk cId="1348085133" sldId="287"/>
            <ac:picMk id="6146" creationId="{08EC8D87-016F-D570-B8C8-6EE06F992B36}"/>
          </ac:picMkLst>
        </pc:picChg>
      </pc:sldChg>
      <pc:sldChg chg="modSp mod">
        <pc:chgData name="Bibhu Asish Panda" userId="22597e5222773c0b" providerId="LiveId" clId="{E60CB3FE-77E3-4F0D-8D4A-281671C3A593}" dt="2026-03-14T01:25:33.538" v="434" actId="207"/>
        <pc:sldMkLst>
          <pc:docMk/>
          <pc:sldMk cId="779330762" sldId="288"/>
        </pc:sldMkLst>
        <pc:spChg chg="mod">
          <ac:chgData name="Bibhu Asish Panda" userId="22597e5222773c0b" providerId="LiveId" clId="{E60CB3FE-77E3-4F0D-8D4A-281671C3A593}" dt="2026-03-14T01:25:33.538" v="434" actId="207"/>
          <ac:spMkLst>
            <pc:docMk/>
            <pc:sldMk cId="779330762" sldId="288"/>
            <ac:spMk id="2" creationId="{14F6A425-E48B-9F8A-3DDB-39FBFFECEDA5}"/>
          </ac:spMkLst>
        </pc:spChg>
      </pc:sldChg>
      <pc:sldChg chg="modSp mod">
        <pc:chgData name="Bibhu Asish Panda" userId="22597e5222773c0b" providerId="LiveId" clId="{E60CB3FE-77E3-4F0D-8D4A-281671C3A593}" dt="2026-03-14T01:25:39.204" v="435" actId="207"/>
        <pc:sldMkLst>
          <pc:docMk/>
          <pc:sldMk cId="200799852" sldId="289"/>
        </pc:sldMkLst>
        <pc:spChg chg="mod">
          <ac:chgData name="Bibhu Asish Panda" userId="22597e5222773c0b" providerId="LiveId" clId="{E60CB3FE-77E3-4F0D-8D4A-281671C3A593}" dt="2026-03-14T01:25:39.204" v="435" actId="207"/>
          <ac:spMkLst>
            <pc:docMk/>
            <pc:sldMk cId="200799852" sldId="289"/>
            <ac:spMk id="2" creationId="{24B97E5F-8D33-839F-4D24-DF3A19FF2245}"/>
          </ac:spMkLst>
        </pc:spChg>
      </pc:sldChg>
      <pc:sldChg chg="modSp mod">
        <pc:chgData name="Bibhu Asish Panda" userId="22597e5222773c0b" providerId="LiveId" clId="{E60CB3FE-77E3-4F0D-8D4A-281671C3A593}" dt="2026-03-14T04:40:03.777" v="522" actId="14100"/>
        <pc:sldMkLst>
          <pc:docMk/>
          <pc:sldMk cId="2679506348" sldId="290"/>
        </pc:sldMkLst>
        <pc:spChg chg="mod">
          <ac:chgData name="Bibhu Asish Panda" userId="22597e5222773c0b" providerId="LiveId" clId="{E60CB3FE-77E3-4F0D-8D4A-281671C3A593}" dt="2026-03-14T01:23:38.904" v="418" actId="207"/>
          <ac:spMkLst>
            <pc:docMk/>
            <pc:sldMk cId="2679506348" sldId="290"/>
            <ac:spMk id="2" creationId="{8D4CDD84-0562-03FC-B4DC-E4B216304C16}"/>
          </ac:spMkLst>
        </pc:spChg>
        <pc:spChg chg="mod">
          <ac:chgData name="Bibhu Asish Panda" userId="22597e5222773c0b" providerId="LiveId" clId="{E60CB3FE-77E3-4F0D-8D4A-281671C3A593}" dt="2026-03-14T04:40:03.777" v="522" actId="14100"/>
          <ac:spMkLst>
            <pc:docMk/>
            <pc:sldMk cId="2679506348" sldId="290"/>
            <ac:spMk id="12" creationId="{A6877855-09F7-0D57-2331-D6EC29A9A1E7}"/>
          </ac:spMkLst>
        </pc:spChg>
        <pc:spChg chg="mod">
          <ac:chgData name="Bibhu Asish Panda" userId="22597e5222773c0b" providerId="LiveId" clId="{E60CB3FE-77E3-4F0D-8D4A-281671C3A593}" dt="2026-03-14T04:40:03.777" v="522" actId="14100"/>
          <ac:spMkLst>
            <pc:docMk/>
            <pc:sldMk cId="2679506348" sldId="290"/>
            <ac:spMk id="14" creationId="{AADA59C5-216E-95A6-0766-FDBF7D6E210F}"/>
          </ac:spMkLst>
        </pc:spChg>
        <pc:grpChg chg="mod">
          <ac:chgData name="Bibhu Asish Panda" userId="22597e5222773c0b" providerId="LiveId" clId="{E60CB3FE-77E3-4F0D-8D4A-281671C3A593}" dt="2026-03-14T04:40:03.777" v="522" actId="14100"/>
          <ac:grpSpMkLst>
            <pc:docMk/>
            <pc:sldMk cId="2679506348" sldId="290"/>
            <ac:grpSpMk id="10" creationId="{08FAE0CB-C70E-9E76-ACEF-C9B6D06BD0B7}"/>
          </ac:grpSpMkLst>
        </pc:grpChg>
        <pc:grpChg chg="mod">
          <ac:chgData name="Bibhu Asish Panda" userId="22597e5222773c0b" providerId="LiveId" clId="{E60CB3FE-77E3-4F0D-8D4A-281671C3A593}" dt="2026-03-14T04:40:03.777" v="522" actId="14100"/>
          <ac:grpSpMkLst>
            <pc:docMk/>
            <pc:sldMk cId="2679506348" sldId="290"/>
            <ac:grpSpMk id="11" creationId="{975405A2-BEC6-5117-EF36-52EC0F0FF3F1}"/>
          </ac:grpSpMkLst>
        </pc:grpChg>
        <pc:grpChg chg="mod">
          <ac:chgData name="Bibhu Asish Panda" userId="22597e5222773c0b" providerId="LiveId" clId="{E60CB3FE-77E3-4F0D-8D4A-281671C3A593}" dt="2026-03-14T04:40:03.777" v="522" actId="14100"/>
          <ac:grpSpMkLst>
            <pc:docMk/>
            <pc:sldMk cId="2679506348" sldId="290"/>
            <ac:grpSpMk id="13" creationId="{87916156-FCC1-7F94-2274-384A46D593A2}"/>
          </ac:grpSpMkLst>
        </pc:grpChg>
        <pc:picChg chg="mod">
          <ac:chgData name="Bibhu Asish Panda" userId="22597e5222773c0b" providerId="LiveId" clId="{E60CB3FE-77E3-4F0D-8D4A-281671C3A593}" dt="2026-03-14T04:40:03.777" v="522" actId="14100"/>
          <ac:picMkLst>
            <pc:docMk/>
            <pc:sldMk cId="2679506348" sldId="290"/>
            <ac:picMk id="15" creationId="{3F1E0DA9-609C-D000-C2A3-4633BBD51873}"/>
          </ac:picMkLst>
        </pc:picChg>
        <pc:picChg chg="mod">
          <ac:chgData name="Bibhu Asish Panda" userId="22597e5222773c0b" providerId="LiveId" clId="{E60CB3FE-77E3-4F0D-8D4A-281671C3A593}" dt="2026-03-14T04:40:03.777" v="522" actId="14100"/>
          <ac:picMkLst>
            <pc:docMk/>
            <pc:sldMk cId="2679506348" sldId="290"/>
            <ac:picMk id="16" creationId="{D5C23DA1-F0A7-2816-F3F1-4B88CBC0B2B4}"/>
          </ac:picMkLst>
        </pc:picChg>
      </pc:sldChg>
      <pc:sldChg chg="del">
        <pc:chgData name="Bibhu Asish Panda" userId="22597e5222773c0b" providerId="LiveId" clId="{E60CB3FE-77E3-4F0D-8D4A-281671C3A593}" dt="2026-03-14T00:37:32.864" v="179" actId="47"/>
        <pc:sldMkLst>
          <pc:docMk/>
          <pc:sldMk cId="2269006638" sldId="291"/>
        </pc:sldMkLst>
      </pc:sldChg>
      <pc:sldChg chg="modSp mod">
        <pc:chgData name="Bibhu Asish Panda" userId="22597e5222773c0b" providerId="LiveId" clId="{E60CB3FE-77E3-4F0D-8D4A-281671C3A593}" dt="2026-03-14T01:26:57.425" v="478" actId="404"/>
        <pc:sldMkLst>
          <pc:docMk/>
          <pc:sldMk cId="368167001" sldId="292"/>
        </pc:sldMkLst>
        <pc:spChg chg="mod">
          <ac:chgData name="Bibhu Asish Panda" userId="22597e5222773c0b" providerId="LiveId" clId="{E60CB3FE-77E3-4F0D-8D4A-281671C3A593}" dt="2026-03-14T01:26:04.729" v="440" actId="207"/>
          <ac:spMkLst>
            <pc:docMk/>
            <pc:sldMk cId="368167001" sldId="292"/>
            <ac:spMk id="2" creationId="{3708BDA7-2BD4-6694-1FA2-97D8108093CC}"/>
          </ac:spMkLst>
        </pc:spChg>
        <pc:spChg chg="mod">
          <ac:chgData name="Bibhu Asish Panda" userId="22597e5222773c0b" providerId="LiveId" clId="{E60CB3FE-77E3-4F0D-8D4A-281671C3A593}" dt="2026-03-14T01:26:57.425" v="478" actId="404"/>
          <ac:spMkLst>
            <pc:docMk/>
            <pc:sldMk cId="368167001" sldId="292"/>
            <ac:spMk id="8" creationId="{483593AA-21BF-5A0D-9BE9-DFFA1479A62B}"/>
          </ac:spMkLst>
        </pc:spChg>
      </pc:sldChg>
      <pc:sldChg chg="modSp mod">
        <pc:chgData name="Bibhu Asish Panda" userId="22597e5222773c0b" providerId="LiveId" clId="{E60CB3FE-77E3-4F0D-8D4A-281671C3A593}" dt="2026-03-14T01:25:03.531" v="429" actId="207"/>
        <pc:sldMkLst>
          <pc:docMk/>
          <pc:sldMk cId="1168679575" sldId="293"/>
        </pc:sldMkLst>
        <pc:spChg chg="mod">
          <ac:chgData name="Bibhu Asish Panda" userId="22597e5222773c0b" providerId="LiveId" clId="{E60CB3FE-77E3-4F0D-8D4A-281671C3A593}" dt="2026-03-14T01:25:03.531" v="429" actId="207"/>
          <ac:spMkLst>
            <pc:docMk/>
            <pc:sldMk cId="1168679575" sldId="293"/>
            <ac:spMk id="5" creationId="{715E031B-F0BB-6E10-1622-5E2C3377B57C}"/>
          </ac:spMkLst>
        </pc:spChg>
      </pc:sldChg>
      <pc:sldChg chg="modSp mod">
        <pc:chgData name="Bibhu Asish Panda" userId="22597e5222773c0b" providerId="LiveId" clId="{E60CB3FE-77E3-4F0D-8D4A-281671C3A593}" dt="2026-03-14T04:15:12.309" v="512" actId="14826"/>
        <pc:sldMkLst>
          <pc:docMk/>
          <pc:sldMk cId="1321355253" sldId="294"/>
        </pc:sldMkLst>
        <pc:spChg chg="mod">
          <ac:chgData name="Bibhu Asish Panda" userId="22597e5222773c0b" providerId="LiveId" clId="{E60CB3FE-77E3-4F0D-8D4A-281671C3A593}" dt="2026-03-14T01:25:09.680" v="430" actId="207"/>
          <ac:spMkLst>
            <pc:docMk/>
            <pc:sldMk cId="1321355253" sldId="294"/>
            <ac:spMk id="8" creationId="{C12D2CDC-8382-F7D3-51E7-C78465FAEB1B}"/>
          </ac:spMkLst>
        </pc:spChg>
        <pc:picChg chg="mod">
          <ac:chgData name="Bibhu Asish Panda" userId="22597e5222773c0b" providerId="LiveId" clId="{E60CB3FE-77E3-4F0D-8D4A-281671C3A593}" dt="2026-03-14T04:14:38.989" v="511" actId="14826"/>
          <ac:picMkLst>
            <pc:docMk/>
            <pc:sldMk cId="1321355253" sldId="294"/>
            <ac:picMk id="3" creationId="{43DD813D-CDA0-B191-B3B3-F49FCADEF9A9}"/>
          </ac:picMkLst>
        </pc:picChg>
        <pc:picChg chg="mod">
          <ac:chgData name="Bibhu Asish Panda" userId="22597e5222773c0b" providerId="LiveId" clId="{E60CB3FE-77E3-4F0D-8D4A-281671C3A593}" dt="2026-03-14T04:15:12.309" v="512" actId="14826"/>
          <ac:picMkLst>
            <pc:docMk/>
            <pc:sldMk cId="1321355253" sldId="294"/>
            <ac:picMk id="6" creationId="{E14C4A41-42AF-A322-26F4-845DF318B5CD}"/>
          </ac:picMkLst>
        </pc:picChg>
      </pc:sldChg>
      <pc:sldChg chg="modSp mod">
        <pc:chgData name="Bibhu Asish Panda" userId="22597e5222773c0b" providerId="LiveId" clId="{E60CB3FE-77E3-4F0D-8D4A-281671C3A593}" dt="2026-03-14T04:14:03.020" v="510" actId="14826"/>
        <pc:sldMkLst>
          <pc:docMk/>
          <pc:sldMk cId="3160746404" sldId="296"/>
        </pc:sldMkLst>
        <pc:spChg chg="mod">
          <ac:chgData name="Bibhu Asish Panda" userId="22597e5222773c0b" providerId="LiveId" clId="{E60CB3FE-77E3-4F0D-8D4A-281671C3A593}" dt="2026-03-14T01:25:16.652" v="431" actId="207"/>
          <ac:spMkLst>
            <pc:docMk/>
            <pc:sldMk cId="3160746404" sldId="296"/>
            <ac:spMk id="8" creationId="{1F638D50-D6A5-D59F-9735-09FC73DF6333}"/>
          </ac:spMkLst>
        </pc:spChg>
        <pc:grpChg chg="mod">
          <ac:chgData name="Bibhu Asish Panda" userId="22597e5222773c0b" providerId="LiveId" clId="{E60CB3FE-77E3-4F0D-8D4A-281671C3A593}" dt="2026-03-14T04:13:30.818" v="509" actId="1076"/>
          <ac:grpSpMkLst>
            <pc:docMk/>
            <pc:sldMk cId="3160746404" sldId="296"/>
            <ac:grpSpMk id="2" creationId="{DCB246FF-01CB-DD91-41DA-CCE3B8A6F3C2}"/>
          </ac:grpSpMkLst>
        </pc:grpChg>
        <pc:picChg chg="mod">
          <ac:chgData name="Bibhu Asish Panda" userId="22597e5222773c0b" providerId="LiveId" clId="{E60CB3FE-77E3-4F0D-8D4A-281671C3A593}" dt="2026-03-14T04:13:13.643" v="505" actId="14826"/>
          <ac:picMkLst>
            <pc:docMk/>
            <pc:sldMk cId="3160746404" sldId="296"/>
            <ac:picMk id="3" creationId="{6D79F117-A8AC-D79D-1CAF-155D942BB608}"/>
          </ac:picMkLst>
        </pc:picChg>
        <pc:picChg chg="mod">
          <ac:chgData name="Bibhu Asish Panda" userId="22597e5222773c0b" providerId="LiveId" clId="{E60CB3FE-77E3-4F0D-8D4A-281671C3A593}" dt="2026-03-14T04:14:03.020" v="510" actId="14826"/>
          <ac:picMkLst>
            <pc:docMk/>
            <pc:sldMk cId="3160746404" sldId="296"/>
            <ac:picMk id="6" creationId="{04B7D2D1-CA3F-AE58-BE3B-2CC2CA99499F}"/>
          </ac:picMkLst>
        </pc:picChg>
      </pc:sldChg>
      <pc:sldChg chg="modSp mod">
        <pc:chgData name="Bibhu Asish Panda" userId="22597e5222773c0b" providerId="LiveId" clId="{E60CB3FE-77E3-4F0D-8D4A-281671C3A593}" dt="2026-03-14T01:24:52.156" v="428" actId="207"/>
        <pc:sldMkLst>
          <pc:docMk/>
          <pc:sldMk cId="4280349762" sldId="297"/>
        </pc:sldMkLst>
        <pc:spChg chg="mod">
          <ac:chgData name="Bibhu Asish Panda" userId="22597e5222773c0b" providerId="LiveId" clId="{E60CB3FE-77E3-4F0D-8D4A-281671C3A593}" dt="2026-03-14T01:24:52.156" v="428" actId="207"/>
          <ac:spMkLst>
            <pc:docMk/>
            <pc:sldMk cId="4280349762" sldId="297"/>
            <ac:spMk id="2" creationId="{9B2B4CAC-CCEF-BA67-2249-A3FEB6128F05}"/>
          </ac:spMkLst>
        </pc:spChg>
        <pc:spChg chg="mod">
          <ac:chgData name="Bibhu Asish Panda" userId="22597e5222773c0b" providerId="LiveId" clId="{E60CB3FE-77E3-4F0D-8D4A-281671C3A593}" dt="2026-03-14T00:38:13.992" v="190" actId="14100"/>
          <ac:spMkLst>
            <pc:docMk/>
            <pc:sldMk cId="4280349762" sldId="297"/>
            <ac:spMk id="3" creationId="{5D31D9AC-1F0F-4D6A-C8FD-80B8A77ED903}"/>
          </ac:spMkLst>
        </pc:spChg>
        <pc:grpChg chg="mod">
          <ac:chgData name="Bibhu Asish Panda" userId="22597e5222773c0b" providerId="LiveId" clId="{E60CB3FE-77E3-4F0D-8D4A-281671C3A593}" dt="2026-03-14T00:38:26.795" v="193" actId="14100"/>
          <ac:grpSpMkLst>
            <pc:docMk/>
            <pc:sldMk cId="4280349762" sldId="297"/>
            <ac:grpSpMk id="5" creationId="{75B1CF6F-A617-932A-A5F7-CFAD0E1ED920}"/>
          </ac:grpSpMkLst>
        </pc:grpChg>
        <pc:picChg chg="mod">
          <ac:chgData name="Bibhu Asish Panda" userId="22597e5222773c0b" providerId="LiveId" clId="{E60CB3FE-77E3-4F0D-8D4A-281671C3A593}" dt="2026-03-14T00:37:56.607" v="189" actId="14100"/>
          <ac:picMkLst>
            <pc:docMk/>
            <pc:sldMk cId="4280349762" sldId="297"/>
            <ac:picMk id="6146" creationId="{238E1432-89E1-06ED-D0AF-3806C49E9DD4}"/>
          </ac:picMkLst>
        </pc:picChg>
      </pc:sldChg>
      <pc:sldChg chg="modSp mod">
        <pc:chgData name="Bibhu Asish Panda" userId="22597e5222773c0b" providerId="LiveId" clId="{E60CB3FE-77E3-4F0D-8D4A-281671C3A593}" dt="2026-03-14T01:24:11.578" v="423" actId="207"/>
        <pc:sldMkLst>
          <pc:docMk/>
          <pc:sldMk cId="3310485640" sldId="298"/>
        </pc:sldMkLst>
        <pc:spChg chg="mod">
          <ac:chgData name="Bibhu Asish Panda" userId="22597e5222773c0b" providerId="LiveId" clId="{E60CB3FE-77E3-4F0D-8D4A-281671C3A593}" dt="2026-03-14T01:24:11.578" v="423" actId="207"/>
          <ac:spMkLst>
            <pc:docMk/>
            <pc:sldMk cId="3310485640" sldId="298"/>
            <ac:spMk id="2" creationId="{7ACFFC5A-0AE8-25DE-7020-71F0CEBC94C0}"/>
          </ac:spMkLst>
        </pc:spChg>
        <pc:spChg chg="mod">
          <ac:chgData name="Bibhu Asish Panda" userId="22597e5222773c0b" providerId="LiveId" clId="{E60CB3FE-77E3-4F0D-8D4A-281671C3A593}" dt="2026-03-14T01:24:06.857" v="422" actId="1076"/>
          <ac:spMkLst>
            <pc:docMk/>
            <pc:sldMk cId="3310485640" sldId="298"/>
            <ac:spMk id="6" creationId="{9908CAD1-3292-D00F-8FCA-ADDED587A18C}"/>
          </ac:spMkLst>
        </pc:spChg>
        <pc:graphicFrameChg chg="mod">
          <ac:chgData name="Bibhu Asish Panda" userId="22597e5222773c0b" providerId="LiveId" clId="{E60CB3FE-77E3-4F0D-8D4A-281671C3A593}" dt="2026-03-14T00:21:14.804" v="60" actId="14861"/>
          <ac:graphicFrameMkLst>
            <pc:docMk/>
            <pc:sldMk cId="3310485640" sldId="298"/>
            <ac:graphicFrameMk id="7" creationId="{1F18132A-B1D5-1618-3EFD-1FECFC85E943}"/>
          </ac:graphicFrameMkLst>
        </pc:graphicFrameChg>
      </pc:sldChg>
      <pc:sldChg chg="modSp mod">
        <pc:chgData name="Bibhu Asish Panda" userId="22597e5222773c0b" providerId="LiveId" clId="{E60CB3FE-77E3-4F0D-8D4A-281671C3A593}" dt="2026-03-14T01:23:59.101" v="421" actId="207"/>
        <pc:sldMkLst>
          <pc:docMk/>
          <pc:sldMk cId="832473928" sldId="299"/>
        </pc:sldMkLst>
        <pc:spChg chg="mod">
          <ac:chgData name="Bibhu Asish Panda" userId="22597e5222773c0b" providerId="LiveId" clId="{E60CB3FE-77E3-4F0D-8D4A-281671C3A593}" dt="2026-03-14T01:23:59.101" v="421" actId="207"/>
          <ac:spMkLst>
            <pc:docMk/>
            <pc:sldMk cId="832473928" sldId="299"/>
            <ac:spMk id="2" creationId="{47A4B56B-9FCF-A662-D36A-1328B90F0A83}"/>
          </ac:spMkLst>
        </pc:spChg>
        <pc:graphicFrameChg chg="mod">
          <ac:chgData name="Bibhu Asish Panda" userId="22597e5222773c0b" providerId="LiveId" clId="{E60CB3FE-77E3-4F0D-8D4A-281671C3A593}" dt="2026-03-14T00:21:45.679" v="65" actId="14861"/>
          <ac:graphicFrameMkLst>
            <pc:docMk/>
            <pc:sldMk cId="832473928" sldId="299"/>
            <ac:graphicFrameMk id="16" creationId="{D8382BDE-6C26-0E4D-CDBC-3352F103F962}"/>
          </ac:graphicFrameMkLst>
        </pc:graphicFrameChg>
        <pc:picChg chg="mod">
          <ac:chgData name="Bibhu Asish Panda" userId="22597e5222773c0b" providerId="LiveId" clId="{E60CB3FE-77E3-4F0D-8D4A-281671C3A593}" dt="2026-03-14T00:21:29.451" v="62" actId="14100"/>
          <ac:picMkLst>
            <pc:docMk/>
            <pc:sldMk cId="832473928" sldId="299"/>
            <ac:picMk id="9" creationId="{AAA8BB3B-DBCF-8A67-A837-EAC902B16E19}"/>
          </ac:picMkLst>
        </pc:picChg>
        <pc:picChg chg="mod">
          <ac:chgData name="Bibhu Asish Panda" userId="22597e5222773c0b" providerId="LiveId" clId="{E60CB3FE-77E3-4F0D-8D4A-281671C3A593}" dt="2026-03-14T00:21:37.306" v="64" actId="14100"/>
          <ac:picMkLst>
            <pc:docMk/>
            <pc:sldMk cId="832473928" sldId="299"/>
            <ac:picMk id="12" creationId="{C22B6CAD-BFA2-4464-57FB-70E66158523A}"/>
          </ac:picMkLst>
        </pc:picChg>
      </pc:sldChg>
      <pc:sldChg chg="modSp mod">
        <pc:chgData name="Bibhu Asish Panda" userId="22597e5222773c0b" providerId="LiveId" clId="{E60CB3FE-77E3-4F0D-8D4A-281671C3A593}" dt="2026-03-14T04:10:59.558" v="503" actId="14826"/>
        <pc:sldMkLst>
          <pc:docMk/>
          <pc:sldMk cId="3222919011" sldId="300"/>
        </pc:sldMkLst>
        <pc:spChg chg="mod">
          <ac:chgData name="Bibhu Asish Panda" userId="22597e5222773c0b" providerId="LiveId" clId="{E60CB3FE-77E3-4F0D-8D4A-281671C3A593}" dt="2026-03-14T01:25:43.865" v="436" actId="207"/>
          <ac:spMkLst>
            <pc:docMk/>
            <pc:sldMk cId="3222919011" sldId="300"/>
            <ac:spMk id="10" creationId="{0AB2C82E-836E-806F-F357-AE295067CC06}"/>
          </ac:spMkLst>
        </pc:spChg>
        <pc:picChg chg="mod">
          <ac:chgData name="Bibhu Asish Panda" userId="22597e5222773c0b" providerId="LiveId" clId="{E60CB3FE-77E3-4F0D-8D4A-281671C3A593}" dt="2026-03-14T04:10:39.717" v="502" actId="14826"/>
          <ac:picMkLst>
            <pc:docMk/>
            <pc:sldMk cId="3222919011" sldId="300"/>
            <ac:picMk id="7" creationId="{957FBAB8-9018-AD6A-9C06-EA0F84F6DDD6}"/>
          </ac:picMkLst>
        </pc:picChg>
        <pc:picChg chg="mod">
          <ac:chgData name="Bibhu Asish Panda" userId="22597e5222773c0b" providerId="LiveId" clId="{E60CB3FE-77E3-4F0D-8D4A-281671C3A593}" dt="2026-03-14T04:10:59.558" v="503" actId="14826"/>
          <ac:picMkLst>
            <pc:docMk/>
            <pc:sldMk cId="3222919011" sldId="300"/>
            <ac:picMk id="13" creationId="{E561ED5E-1006-0133-DA3D-6293FF11DCC9}"/>
          </ac:picMkLst>
        </pc:picChg>
      </pc:sldChg>
      <pc:sldChg chg="modSp mod">
        <pc:chgData name="Bibhu Asish Panda" userId="22597e5222773c0b" providerId="LiveId" clId="{E60CB3FE-77E3-4F0D-8D4A-281671C3A593}" dt="2026-03-14T01:25:22.313" v="432" actId="207"/>
        <pc:sldMkLst>
          <pc:docMk/>
          <pc:sldMk cId="1017561517" sldId="301"/>
        </pc:sldMkLst>
        <pc:spChg chg="mod">
          <ac:chgData name="Bibhu Asish Panda" userId="22597e5222773c0b" providerId="LiveId" clId="{E60CB3FE-77E3-4F0D-8D4A-281671C3A593}" dt="2026-03-14T01:25:22.313" v="432" actId="207"/>
          <ac:spMkLst>
            <pc:docMk/>
            <pc:sldMk cId="1017561517" sldId="301"/>
            <ac:spMk id="6" creationId="{9BF89B6F-8376-B901-85B5-0B5D7EBEED12}"/>
          </ac:spMkLst>
        </pc:spChg>
        <pc:spChg chg="mod">
          <ac:chgData name="Bibhu Asish Panda" userId="22597e5222773c0b" providerId="LiveId" clId="{E60CB3FE-77E3-4F0D-8D4A-281671C3A593}" dt="2026-03-14T00:39:42.991" v="206" actId="1076"/>
          <ac:spMkLst>
            <pc:docMk/>
            <pc:sldMk cId="1017561517" sldId="301"/>
            <ac:spMk id="7" creationId="{A8361325-F718-B0DC-AD9A-5E270AD7EE94}"/>
          </ac:spMkLst>
        </pc:spChg>
        <pc:spChg chg="mod">
          <ac:chgData name="Bibhu Asish Panda" userId="22597e5222773c0b" providerId="LiveId" clId="{E60CB3FE-77E3-4F0D-8D4A-281671C3A593}" dt="2026-03-14T00:40:11.969" v="218" actId="20577"/>
          <ac:spMkLst>
            <pc:docMk/>
            <pc:sldMk cId="1017561517" sldId="301"/>
            <ac:spMk id="7172" creationId="{3D7EDD72-99FA-879C-F6A3-266E13F6B23B}"/>
          </ac:spMkLst>
        </pc:spChg>
        <pc:grpChg chg="mod">
          <ac:chgData name="Bibhu Asish Panda" userId="22597e5222773c0b" providerId="LiveId" clId="{E60CB3FE-77E3-4F0D-8D4A-281671C3A593}" dt="2026-03-14T00:39:19.486" v="201" actId="1076"/>
          <ac:grpSpMkLst>
            <pc:docMk/>
            <pc:sldMk cId="1017561517" sldId="301"/>
            <ac:grpSpMk id="2" creationId="{646E90A2-8E8C-3C30-0D02-B622D1E44FBB}"/>
          </ac:grpSpMkLst>
        </pc:grpChg>
        <pc:cxnChg chg="mod">
          <ac:chgData name="Bibhu Asish Panda" userId="22597e5222773c0b" providerId="LiveId" clId="{E60CB3FE-77E3-4F0D-8D4A-281671C3A593}" dt="2026-03-14T00:39:46.159" v="207" actId="1076"/>
          <ac:cxnSpMkLst>
            <pc:docMk/>
            <pc:sldMk cId="1017561517" sldId="301"/>
            <ac:cxnSpMk id="8" creationId="{88BED0D5-329C-FEC9-8981-DBED95F559F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C8508-291E-47D3-98C3-A02EEA062E9A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0DB2A-711B-4AFC-B25D-90E4F9B3D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10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0E444-3132-8B8F-4F75-0933A4B0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37F79-4429-4775-9A5C-437B5756DEE9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487F8-3566-A6F4-4576-E0DF3BA8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F09F-7B87-C86A-D4CF-2100B027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1E3C78-B874-42A0-A1EF-C6F99514BFE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7628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451A3-ACFD-0940-E98A-0DACE755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22EE5-3C40-43DF-8E70-54C9B8D512CE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272DC-3874-B9CF-6AA5-DE9A8B36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16A09-B9E4-6165-7992-830F468F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A7890-FA74-432B-A9AE-48CBB80B72E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9366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FCBF-22C9-9514-BD24-2DB7C57E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93204-00E3-431C-8698-7F0089721509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1C279-EE26-4CFE-CAB0-EAE701CA9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5B197-1FA5-6C61-7A10-51CBD475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E6935-52F1-4D8A-8871-529AE86696A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2265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3C02166-F575-B93F-02DA-94C1733F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3226C-BDEA-4871-AF18-C8A21B90E165}" type="datetime1">
              <a:rPr lang="en-US" smtClean="0"/>
              <a:t>3/14/2026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8F0684-52B8-1F8E-291C-EC2172B4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E5D492-8785-FBC9-E097-5FF89EAE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961BB-4A4C-4245-978D-EE6E04593C36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5370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A8C4E34-C008-9EC3-4170-46132009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C90A2-52E3-4FC3-BBAD-62BD07B70A31}" type="datetime1">
              <a:rPr lang="en-US" smtClean="0"/>
              <a:t>3/14/2026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6AF516-721C-F1FE-3B62-F6E4E6B2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A36A270-EBAE-7E29-6512-18CC215B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66E90-D532-48FD-8E26-737503A8C189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9686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0C1C1A-6764-5913-A8CD-6B6D37B4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14C7D-E237-4389-A8AA-3C2FCA46007E}" type="datetime1">
              <a:rPr lang="en-US" smtClean="0"/>
              <a:t>3/14/2026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063BEF4-5B4F-1FE4-F36E-D7A45ABB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917AF9-B796-D2DF-C437-ECCA2178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6B7B6D-9583-419F-8639-77E3EAE7926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1865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0555504-89DB-66CB-7206-9E7D82C2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02EE5-89C2-49C4-9031-D92C01003A13}" type="datetime1">
              <a:rPr lang="en-US" smtClean="0"/>
              <a:t>3/14/2026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5561179-DF3C-DEA0-E001-BBEC65443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453DC73-F7AF-0E9A-9067-96A84CC0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0993F-656E-4D65-9F40-89F07F400731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30045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0D22D8-1FB5-0A6F-2D65-C517251A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92F80-3350-4DFF-A4AF-8CA8F23A883B}" type="datetime1">
              <a:rPr lang="en-US" smtClean="0"/>
              <a:t>3/14/2026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865D7C1-A5EC-D33B-E7B3-38ED5202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523226-6BAF-77AA-491A-A5B720D5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ED0EB-5C62-4B82-AF7E-7FE0DC9B1D8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8112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F817A4E-0C0C-50ED-A29E-B9E11662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7D97B-4186-4666-99C9-AA6719FD3700}" type="datetime1">
              <a:rPr lang="en-US" smtClean="0"/>
              <a:t>3/14/2026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C7386B-9A39-1EB8-B4E0-4AC17B49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D7EE06-8C82-2EA2-C1AE-9098C97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78BF-D225-45FB-8905-0B60C2D8BF2D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94209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BA13-C267-1A2D-212A-6C608A95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634BC-42F3-4899-BDD9-2ACF56A83852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53D4-58C9-F4A9-4B23-F1B04228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DF4C4-EE0D-8143-D8DC-F1961870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66C3E-C9E9-4519-8FA4-773782E5E87D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010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52D83-1505-804E-9FFA-83D448B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B0220-5438-4921-911C-D29B40705A56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D585-DB1A-2031-0620-CDE6E888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C91B2-98FE-B62A-7159-E74E3259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F56A7-F150-4EFC-9311-41440A495628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9850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616E9D4-7C6A-FEC1-6937-3AEF5E85E5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3FF84ED-7D6D-7139-B5B5-4B8214CD6C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3BD02-0736-F4E5-B68B-F08BF2C3B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C04B985-8911-4DB0-80EA-DD7C73A5A5AF}" type="datetime1">
              <a:rPr lang="en-US" smtClean="0"/>
              <a:t>3/14/2026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4FF16-643B-5C06-137B-20EE0C13B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787B8-DFBB-488D-752B-A0562A486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AA42D4F-ED38-4C0B-9E99-086E880EFE65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AF99B67-DAD1-A7E7-CEA3-DF806B17D33F}"/>
              </a:ext>
            </a:extLst>
          </p:cNvPr>
          <p:cNvSpPr/>
          <p:nvPr/>
        </p:nvSpPr>
        <p:spPr>
          <a:xfrm>
            <a:off x="0" y="0"/>
            <a:ext cx="9906000" cy="1066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CC851B-6B7D-EB01-7595-A572C8F8C611}"/>
              </a:ext>
            </a:extLst>
          </p:cNvPr>
          <p:cNvSpPr/>
          <p:nvPr/>
        </p:nvSpPr>
        <p:spPr>
          <a:xfrm>
            <a:off x="-9525" y="125313"/>
            <a:ext cx="9906000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002060"/>
                </a:solidFill>
                <a:latin typeface="+mn-lt"/>
              </a:rPr>
              <a:t>Power-Efficient 16×8 SRAM Array Design and Layout Implementation using a Low-Power 7T SRAM Cell</a:t>
            </a:r>
            <a:endParaRPr lang="en-US" sz="3200" b="1" dirty="0">
              <a:solidFill>
                <a:srgbClr val="002060"/>
              </a:solidFill>
              <a:latin typeface="+mn-lt"/>
              <a:cs typeface="+mn-cs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6ED9057-F041-CFCE-41CE-880756840A3F}"/>
              </a:ext>
            </a:extLst>
          </p:cNvPr>
          <p:cNvSpPr/>
          <p:nvPr/>
        </p:nvSpPr>
        <p:spPr>
          <a:xfrm>
            <a:off x="4724400" y="2014538"/>
            <a:ext cx="5184775" cy="1279525"/>
          </a:xfrm>
          <a:custGeom>
            <a:avLst/>
            <a:gdLst>
              <a:gd name="connsiteX0" fmla="*/ 838200 w 4785360"/>
              <a:gd name="connsiteY0" fmla="*/ 0 h 1280160"/>
              <a:gd name="connsiteX1" fmla="*/ 838200 w 4785360"/>
              <a:gd name="connsiteY1" fmla="*/ 0 h 1280160"/>
              <a:gd name="connsiteX2" fmla="*/ 4770120 w 4785360"/>
              <a:gd name="connsiteY2" fmla="*/ 0 h 1280160"/>
              <a:gd name="connsiteX3" fmla="*/ 4785360 w 4785360"/>
              <a:gd name="connsiteY3" fmla="*/ 1264920 h 1280160"/>
              <a:gd name="connsiteX4" fmla="*/ 0 w 4785360"/>
              <a:gd name="connsiteY4" fmla="*/ 1280160 h 1280160"/>
              <a:gd name="connsiteX5" fmla="*/ 838200 w 4785360"/>
              <a:gd name="connsiteY5" fmla="*/ 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85360" h="1280160">
                <a:moveTo>
                  <a:pt x="838200" y="0"/>
                </a:moveTo>
                <a:lnTo>
                  <a:pt x="838200" y="0"/>
                </a:lnTo>
                <a:lnTo>
                  <a:pt x="4770120" y="0"/>
                </a:lnTo>
                <a:lnTo>
                  <a:pt x="4785360" y="1264920"/>
                </a:lnTo>
                <a:lnTo>
                  <a:pt x="0" y="1280160"/>
                </a:lnTo>
                <a:lnTo>
                  <a:pt x="83820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53" name="Rectangle 23">
            <a:extLst>
              <a:ext uri="{FF2B5EF4-FFF2-40B4-BE49-F238E27FC236}">
                <a16:creationId xmlns:a16="http://schemas.microsoft.com/office/drawing/2014/main" id="{B0D695BB-CB9E-0D37-AF92-88E0D94F8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2057400"/>
            <a:ext cx="42926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600" b="1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GUIDED BY :</a:t>
            </a:r>
          </a:p>
          <a:p>
            <a:pPr algn="ctr"/>
            <a:r>
              <a:rPr lang="en-US" altLang="en-US" sz="2600" b="1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Mr. Dhananjaya Tripathy</a:t>
            </a:r>
          </a:p>
          <a:p>
            <a:pPr algn="ctr"/>
            <a:r>
              <a:rPr lang="en-US" altLang="en-US" sz="100" b="1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Mr. </a:t>
            </a:r>
            <a:endParaRPr lang="en-US"/>
          </a:p>
          <a:p>
            <a:pPr algn="ctr" eaLnBrk="1" hangingPunct="1"/>
            <a:r>
              <a:rPr lang="en-US" altLang="en-US" sz="2400" b="1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(Professor)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63657B5-9C05-75E5-7222-D50EEAA62B75}"/>
              </a:ext>
            </a:extLst>
          </p:cNvPr>
          <p:cNvSpPr/>
          <p:nvPr/>
        </p:nvSpPr>
        <p:spPr>
          <a:xfrm>
            <a:off x="0" y="1676400"/>
            <a:ext cx="5881688" cy="1905000"/>
          </a:xfrm>
          <a:custGeom>
            <a:avLst/>
            <a:gdLst>
              <a:gd name="connsiteX0" fmla="*/ 0 w 6172200"/>
              <a:gd name="connsiteY0" fmla="*/ 0 h 1798320"/>
              <a:gd name="connsiteX1" fmla="*/ 6172200 w 6172200"/>
              <a:gd name="connsiteY1" fmla="*/ 0 h 1798320"/>
              <a:gd name="connsiteX2" fmla="*/ 5013960 w 6172200"/>
              <a:gd name="connsiteY2" fmla="*/ 1783080 h 1798320"/>
              <a:gd name="connsiteX3" fmla="*/ 0 w 6172200"/>
              <a:gd name="connsiteY3" fmla="*/ 1798320 h 1798320"/>
              <a:gd name="connsiteX4" fmla="*/ 0 w 6172200"/>
              <a:gd name="connsiteY4" fmla="*/ 0 h 179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1798320">
                <a:moveTo>
                  <a:pt x="0" y="0"/>
                </a:moveTo>
                <a:lnTo>
                  <a:pt x="6172200" y="0"/>
                </a:lnTo>
                <a:lnTo>
                  <a:pt x="5013960" y="1783080"/>
                </a:lnTo>
                <a:lnTo>
                  <a:pt x="0" y="1798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92C9A1-C842-26A4-32CC-03C189F6B010}"/>
              </a:ext>
            </a:extLst>
          </p:cNvPr>
          <p:cNvSpPr/>
          <p:nvPr/>
        </p:nvSpPr>
        <p:spPr>
          <a:xfrm>
            <a:off x="127323" y="1886852"/>
            <a:ext cx="6052734" cy="1477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b="1" u="sng" cap="all" dirty="0">
                <a:solidFill>
                  <a:srgbClr val="092338"/>
                </a:solidFill>
                <a:latin typeface="Bookman Old Style"/>
                <a:cs typeface="+mn-cs"/>
              </a:rPr>
              <a:t>ECE-C, GROUP – C2</a:t>
            </a:r>
            <a:endParaRPr lang="en-US" dirty="0">
              <a:solidFill>
                <a:srgbClr val="000000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Bibhu asish panda (2201209613)</a:t>
            </a:r>
            <a:endParaRPr lang="en-US" dirty="0">
              <a:solidFill>
                <a:srgbClr val="000000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S Nitish (2201209701)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Chandan Shaw (2201209619)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Abhisek Jena (2101209403)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</p:txBody>
      </p:sp>
      <p:pic>
        <p:nvPicPr>
          <p:cNvPr id="2056" name="Picture 12">
            <a:extLst>
              <a:ext uri="{FF2B5EF4-FFF2-40B4-BE49-F238E27FC236}">
                <a16:creationId xmlns:a16="http://schemas.microsoft.com/office/drawing/2014/main" id="{E344A61C-3AC2-8E9A-4927-9B89AFC29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4248150"/>
            <a:ext cx="99250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Rectangle 19">
            <a:extLst>
              <a:ext uri="{FF2B5EF4-FFF2-40B4-BE49-F238E27FC236}">
                <a16:creationId xmlns:a16="http://schemas.microsoft.com/office/drawing/2014/main" id="{92B758C1-555C-DEDB-16B1-A618DF52D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2292"/>
            <a:ext cx="990600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Branch-Electronics and Communication Engineering</a:t>
            </a:r>
          </a:p>
          <a:p>
            <a:pPr algn="ctr" eaLnBrk="1" hangingPunct="1"/>
            <a:r>
              <a:rPr lang="en-US" altLang="en-US" sz="2400" b="1" dirty="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Department of Electronics Engineering</a:t>
            </a:r>
          </a:p>
          <a:p>
            <a:pPr algn="ctr" eaLnBrk="1" hangingPunct="1"/>
            <a:r>
              <a:rPr lang="en-US" altLang="en-US" sz="2400" b="1" dirty="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Silicon University, Odisha</a:t>
            </a:r>
          </a:p>
          <a:p>
            <a:pPr algn="ctr" eaLnBrk="1" hangingPunct="1"/>
            <a:r>
              <a:rPr lang="en-US" altLang="en-US" sz="2000" b="1" dirty="0">
                <a:solidFill>
                  <a:srgbClr val="002060"/>
                </a:solidFill>
                <a:latin typeface="Calibri"/>
                <a:ea typeface="Calibri"/>
                <a:cs typeface="Arial"/>
              </a:rPr>
              <a:t>Bhubaneswar-751024</a:t>
            </a:r>
          </a:p>
        </p:txBody>
      </p:sp>
      <p:pic>
        <p:nvPicPr>
          <p:cNvPr id="2058" name="Picture 28" descr="C:\Users\Administrator\Desktop\silicontech.png">
            <a:extLst>
              <a:ext uri="{FF2B5EF4-FFF2-40B4-BE49-F238E27FC236}">
                <a16:creationId xmlns:a16="http://schemas.microsoft.com/office/drawing/2014/main" id="{A3F5C453-70A4-BF91-FCF8-D0C014255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6105525"/>
            <a:ext cx="22860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eeform 22">
            <a:extLst>
              <a:ext uri="{FF2B5EF4-FFF2-40B4-BE49-F238E27FC236}">
                <a16:creationId xmlns:a16="http://schemas.microsoft.com/office/drawing/2014/main" id="{2D35A564-BB24-8776-8F51-A9B6EBDF95E3}"/>
              </a:ext>
            </a:extLst>
          </p:cNvPr>
          <p:cNvSpPr/>
          <p:nvPr/>
        </p:nvSpPr>
        <p:spPr>
          <a:xfrm>
            <a:off x="4741862" y="2044701"/>
            <a:ext cx="5184775" cy="1279525"/>
          </a:xfrm>
          <a:custGeom>
            <a:avLst/>
            <a:gdLst>
              <a:gd name="connsiteX0" fmla="*/ 838200 w 4785360"/>
              <a:gd name="connsiteY0" fmla="*/ 0 h 1280160"/>
              <a:gd name="connsiteX1" fmla="*/ 838200 w 4785360"/>
              <a:gd name="connsiteY1" fmla="*/ 0 h 1280160"/>
              <a:gd name="connsiteX2" fmla="*/ 4770120 w 4785360"/>
              <a:gd name="connsiteY2" fmla="*/ 0 h 1280160"/>
              <a:gd name="connsiteX3" fmla="*/ 4785360 w 4785360"/>
              <a:gd name="connsiteY3" fmla="*/ 1264920 h 1280160"/>
              <a:gd name="connsiteX4" fmla="*/ 0 w 4785360"/>
              <a:gd name="connsiteY4" fmla="*/ 1280160 h 1280160"/>
              <a:gd name="connsiteX5" fmla="*/ 838200 w 4785360"/>
              <a:gd name="connsiteY5" fmla="*/ 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85360" h="1280160">
                <a:moveTo>
                  <a:pt x="838200" y="0"/>
                </a:moveTo>
                <a:lnTo>
                  <a:pt x="838200" y="0"/>
                </a:lnTo>
                <a:lnTo>
                  <a:pt x="4770120" y="0"/>
                </a:lnTo>
                <a:lnTo>
                  <a:pt x="4785360" y="1264920"/>
                </a:lnTo>
                <a:lnTo>
                  <a:pt x="0" y="1280160"/>
                </a:lnTo>
                <a:lnTo>
                  <a:pt x="83820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34FFD4D9-646B-B742-36B1-97FE6A66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400" y="2087563"/>
            <a:ext cx="42926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600" b="1" dirty="0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GUIDED BY :</a:t>
            </a:r>
          </a:p>
          <a:p>
            <a:pPr algn="ctr"/>
            <a:r>
              <a:rPr lang="en-US" altLang="en-US" sz="2600" b="1" dirty="0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Mr. Dhananjaya Tripathy</a:t>
            </a:r>
          </a:p>
          <a:p>
            <a:pPr algn="ctr"/>
            <a:r>
              <a:rPr lang="en-US" altLang="en-US" sz="100" b="1" dirty="0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Mr. </a:t>
            </a:r>
          </a:p>
          <a:p>
            <a:pPr algn="ctr" eaLnBrk="1" hangingPunct="1"/>
            <a:r>
              <a:rPr lang="en-US" altLang="en-US" sz="2400" b="1" dirty="0">
                <a:solidFill>
                  <a:srgbClr val="FFFF00"/>
                </a:solidFill>
                <a:latin typeface="Calibri"/>
                <a:ea typeface="Calibri"/>
                <a:cs typeface="Arial"/>
              </a:rPr>
              <a:t>(Asst. Professor)</a:t>
            </a:r>
          </a:p>
        </p:txBody>
      </p:sp>
      <p:sp>
        <p:nvSpPr>
          <p:cNvPr id="4" name="Freeform 24">
            <a:extLst>
              <a:ext uri="{FF2B5EF4-FFF2-40B4-BE49-F238E27FC236}">
                <a16:creationId xmlns:a16="http://schemas.microsoft.com/office/drawing/2014/main" id="{2555A5EC-F6D7-62AD-057D-7267C33544E1}"/>
              </a:ext>
            </a:extLst>
          </p:cNvPr>
          <p:cNvSpPr/>
          <p:nvPr/>
        </p:nvSpPr>
        <p:spPr>
          <a:xfrm>
            <a:off x="17462" y="1706563"/>
            <a:ext cx="5881688" cy="1905000"/>
          </a:xfrm>
          <a:custGeom>
            <a:avLst/>
            <a:gdLst>
              <a:gd name="connsiteX0" fmla="*/ 0 w 6172200"/>
              <a:gd name="connsiteY0" fmla="*/ 0 h 1798320"/>
              <a:gd name="connsiteX1" fmla="*/ 6172200 w 6172200"/>
              <a:gd name="connsiteY1" fmla="*/ 0 h 1798320"/>
              <a:gd name="connsiteX2" fmla="*/ 5013960 w 6172200"/>
              <a:gd name="connsiteY2" fmla="*/ 1783080 h 1798320"/>
              <a:gd name="connsiteX3" fmla="*/ 0 w 6172200"/>
              <a:gd name="connsiteY3" fmla="*/ 1798320 h 1798320"/>
              <a:gd name="connsiteX4" fmla="*/ 0 w 6172200"/>
              <a:gd name="connsiteY4" fmla="*/ 0 h 179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200" h="1798320">
                <a:moveTo>
                  <a:pt x="0" y="0"/>
                </a:moveTo>
                <a:lnTo>
                  <a:pt x="6172200" y="0"/>
                </a:lnTo>
                <a:lnTo>
                  <a:pt x="5013960" y="1783080"/>
                </a:lnTo>
                <a:lnTo>
                  <a:pt x="0" y="1798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3A83E-4444-E63F-E92E-81251E99FECE}"/>
              </a:ext>
            </a:extLst>
          </p:cNvPr>
          <p:cNvSpPr/>
          <p:nvPr/>
        </p:nvSpPr>
        <p:spPr>
          <a:xfrm>
            <a:off x="144785" y="1917015"/>
            <a:ext cx="6052734" cy="147732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b="1" u="sng" cap="all" dirty="0">
                <a:solidFill>
                  <a:srgbClr val="092338"/>
                </a:solidFill>
                <a:latin typeface="Bookman Old Style"/>
                <a:cs typeface="+mn-cs"/>
              </a:rPr>
              <a:t>ECE-C, GROUP – C2</a:t>
            </a:r>
            <a:endParaRPr lang="en-US" dirty="0">
              <a:solidFill>
                <a:srgbClr val="000000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Bibhu asish panda (2201209613)</a:t>
            </a:r>
            <a:endParaRPr lang="en-US" dirty="0">
              <a:solidFill>
                <a:srgbClr val="000000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S Nitish (2201209701)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Chandan Shaw (2201209619)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  <a:p>
            <a:pPr>
              <a:defRPr/>
            </a:pPr>
            <a:r>
              <a:rPr lang="en-US" b="1" cap="all" dirty="0">
                <a:solidFill>
                  <a:srgbClr val="FFFFFF"/>
                </a:solidFill>
                <a:latin typeface="Bookman Old Style"/>
                <a:cs typeface="+mn-cs"/>
              </a:rPr>
              <a:t>Abhisek Jena (2101209403)</a:t>
            </a:r>
            <a:endParaRPr lang="en-US" cap="all" dirty="0">
              <a:solidFill>
                <a:srgbClr val="FFFFFF"/>
              </a:solidFill>
              <a:latin typeface="Bookman Old Style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>
            <a:extLst>
              <a:ext uri="{FF2B5EF4-FFF2-40B4-BE49-F238E27FC236}">
                <a16:creationId xmlns:a16="http://schemas.microsoft.com/office/drawing/2014/main" id="{2E4FCAD5-D941-A3B8-C83C-47B21FB4B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9DF296-5FDC-AC75-8ED8-B672DEA899DA}"/>
              </a:ext>
            </a:extLst>
          </p:cNvPr>
          <p:cNvSpPr>
            <a:spLocks noGrp="1"/>
          </p:cNvSpPr>
          <p:nvPr/>
        </p:nvSpPr>
        <p:spPr bwMode="auto">
          <a:xfrm>
            <a:off x="382191" y="1244801"/>
            <a:ext cx="9523809" cy="74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en-US" altLang="en-US" sz="3600" b="1" u="sng" dirty="0"/>
              <a:t>CONTENTS                                            </a:t>
            </a:r>
            <a:endParaRPr lang="en-IN" altLang="en-US" sz="3600" b="1" u="sng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E469-18F4-2FC0-02C5-669287E36A85}"/>
              </a:ext>
            </a:extLst>
          </p:cNvPr>
          <p:cNvSpPr>
            <a:spLocks noGrp="1"/>
          </p:cNvSpPr>
          <p:nvPr/>
        </p:nvSpPr>
        <p:spPr bwMode="auto">
          <a:xfrm>
            <a:off x="19050" y="1986700"/>
            <a:ext cx="9906000" cy="4599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50800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  <a:cs typeface="Times New Roman"/>
              </a:rPr>
              <a:t>Introduction </a:t>
            </a:r>
            <a:endParaRPr lang="en-US" sz="2800" dirty="0">
              <a:latin typeface="+mj-lt"/>
              <a:ea typeface="Calibri"/>
              <a:cs typeface="Times New Roman"/>
            </a:endParaRPr>
          </a:p>
          <a:p>
            <a:pPr marL="914400" indent="-508000">
              <a:spcAft>
                <a:spcPts val="0"/>
              </a:spcAft>
              <a:defRPr/>
            </a:pPr>
            <a:r>
              <a:rPr lang="en-US" sz="2800" dirty="0">
                <a:latin typeface="+mj-lt"/>
                <a:cs typeface="Times New Roman"/>
              </a:rPr>
              <a:t>Literature Survey</a:t>
            </a:r>
            <a:endParaRPr lang="en-US" sz="2800" dirty="0">
              <a:latin typeface="+mj-lt"/>
              <a:ea typeface="Calibri"/>
              <a:cs typeface="Times New Roman"/>
            </a:endParaRPr>
          </a:p>
          <a:p>
            <a:pPr marL="914400" indent="-50800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  <a:cs typeface="Times New Roman"/>
              </a:rPr>
              <a:t>Problem Statement</a:t>
            </a:r>
            <a:endParaRPr lang="en-US" sz="2800" dirty="0">
              <a:latin typeface="+mj-lt"/>
              <a:ea typeface="Calibri"/>
              <a:cs typeface="Times New Roman"/>
            </a:endParaRPr>
          </a:p>
          <a:p>
            <a:pPr marL="914400" indent="-50800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  <a:cs typeface="Times New Roman"/>
              </a:rPr>
              <a:t>Proposed Techniques</a:t>
            </a:r>
            <a:endParaRPr lang="en-US" sz="2800" dirty="0">
              <a:latin typeface="+mj-lt"/>
              <a:ea typeface="Calibri"/>
              <a:cs typeface="Times New Roman"/>
            </a:endParaRPr>
          </a:p>
          <a:p>
            <a:pPr marL="914400" indent="-50800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  <a:cs typeface="Times New Roman"/>
              </a:rPr>
              <a:t>Conclusions</a:t>
            </a:r>
            <a:endParaRPr lang="en-US" sz="2800" dirty="0">
              <a:latin typeface="+mj-lt"/>
              <a:ea typeface="Calibri"/>
              <a:cs typeface="Times New Roman"/>
            </a:endParaRPr>
          </a:p>
          <a:p>
            <a:pPr marL="914400" indent="-50800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+mj-lt"/>
                <a:ea typeface="Calibri"/>
                <a:cs typeface="Times New Roman"/>
              </a:rPr>
              <a:t>References</a:t>
            </a:r>
          </a:p>
          <a:p>
            <a:pPr marL="914400" indent="-508000" eaLnBrk="1" fontAlgn="auto" hangingPunct="1">
              <a:spcAft>
                <a:spcPts val="0"/>
              </a:spcAft>
              <a:defRPr/>
            </a:pPr>
            <a:endParaRPr lang="en-US" sz="2800" dirty="0">
              <a:latin typeface="+mj-lt"/>
              <a:ea typeface="Calibri"/>
              <a:cs typeface="Calibri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sz="2000" dirty="0">
              <a:latin typeface="+mj-lt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91C1-8EF7-EF65-1671-74D84B916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4502" y="6356350"/>
            <a:ext cx="296197" cy="365125"/>
          </a:xfrm>
        </p:spPr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">
            <a:extLst>
              <a:ext uri="{FF2B5EF4-FFF2-40B4-BE49-F238E27FC236}">
                <a16:creationId xmlns:a16="http://schemas.microsoft.com/office/drawing/2014/main" id="{6C419D47-379C-C415-A4B0-9F6674419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322"/>
            <a:ext cx="9925050" cy="7098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F97849D-B46D-4C63-F21E-C0F80A855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31" y="1417689"/>
            <a:ext cx="9566788" cy="4803059"/>
          </a:xfrm>
        </p:spPr>
        <p:txBody>
          <a:bodyPr rtlCol="0"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50" b="1" dirty="0"/>
              <a:t>SRAM</a:t>
            </a:r>
            <a:r>
              <a:rPr lang="en-US" sz="1550" dirty="0"/>
              <a:t> is a high-speed volatile memory widely used in </a:t>
            </a:r>
            <a:r>
              <a:rPr lang="en-US" sz="1550" b="1" dirty="0"/>
              <a:t>microprocessors, cache memories, and embedded systems</a:t>
            </a:r>
            <a:r>
              <a:rPr lang="en-US" sz="155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50" dirty="0"/>
              <a:t>It stores data using </a:t>
            </a:r>
            <a:r>
              <a:rPr lang="en-US" sz="1550" b="1" dirty="0"/>
              <a:t>bistable circuits formed by cross-coupled inverters</a:t>
            </a:r>
            <a:r>
              <a:rPr lang="en-US" sz="1550" dirty="0"/>
              <a:t>, allowing fast read and write operations.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50" dirty="0"/>
              <a:t>A typical SRAM system consists of the </a:t>
            </a:r>
            <a:r>
              <a:rPr lang="en-US" sz="1550" b="1" dirty="0"/>
              <a:t>SRAM cell Array and peripheral circuits</a:t>
            </a:r>
            <a:r>
              <a:rPr lang="en-US" sz="1550" dirty="0"/>
              <a:t> such as </a:t>
            </a:r>
            <a:r>
              <a:rPr lang="en-US" sz="1550" b="1" dirty="0"/>
              <a:t>Row Decoder, Precharge circuit, Write Driver, and Sense Amplifier</a:t>
            </a:r>
            <a:r>
              <a:rPr lang="en-US" sz="155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50" dirty="0"/>
              <a:t>With technology scaling, SRAM design faces challenges such as </a:t>
            </a:r>
            <a:r>
              <a:rPr lang="en-US" sz="1550" b="1" dirty="0"/>
              <a:t>reduced stability, read disturbance, and increased power consumption</a:t>
            </a:r>
            <a:r>
              <a:rPr lang="en-US" sz="1550" dirty="0"/>
              <a:t>. To address these issues, optimized SRAM architectures and efficient peripheral circuits are required.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50" dirty="0"/>
              <a:t>In this work, a </a:t>
            </a:r>
            <a:r>
              <a:rPr lang="en-US" sz="1550" b="1" dirty="0"/>
              <a:t>16×8 SRAM memory array</a:t>
            </a:r>
            <a:r>
              <a:rPr lang="en-US" sz="1550" dirty="0"/>
              <a:t> is designed using </a:t>
            </a:r>
            <a:r>
              <a:rPr lang="en-US" sz="1550" b="1" dirty="0"/>
              <a:t>180 nm CMOS technology in Cadence Virtuoso with XFAB PDK</a:t>
            </a:r>
            <a:r>
              <a:rPr lang="en-US" sz="1550" dirty="0"/>
              <a:t>, and its circuit blocks are analyzed and verified through simulation.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5C3B7D8-9E06-62A0-39A0-F32D66927F51}"/>
              </a:ext>
            </a:extLst>
          </p:cNvPr>
          <p:cNvSpPr txBox="1">
            <a:spLocks/>
          </p:cNvSpPr>
          <p:nvPr/>
        </p:nvSpPr>
        <p:spPr>
          <a:xfrm>
            <a:off x="9525" y="637252"/>
            <a:ext cx="9906000" cy="102076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sz="3200" b="1" u="sng" dirty="0">
                <a:latin typeface="Arial" charset="0"/>
                <a:cs typeface="Arial" charset="0"/>
              </a:rPr>
              <a:t>INTRODUCTION</a:t>
            </a:r>
            <a:endParaRPr lang="en-IN" sz="32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B8F20-0BF4-C57C-814C-2DCA0930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3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5">
            <a:extLst>
              <a:ext uri="{FF2B5EF4-FFF2-40B4-BE49-F238E27FC236}">
                <a16:creationId xmlns:a16="http://schemas.microsoft.com/office/drawing/2014/main" id="{B392DFA6-DF17-015E-B8F8-7D640DABE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CD76BB-AF11-2734-95A3-5597E1AADDCD}"/>
              </a:ext>
            </a:extLst>
          </p:cNvPr>
          <p:cNvSpPr txBox="1">
            <a:spLocks/>
          </p:cNvSpPr>
          <p:nvPr/>
        </p:nvSpPr>
        <p:spPr bwMode="auto">
          <a:xfrm>
            <a:off x="31954" y="2426263"/>
            <a:ext cx="9906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indent="-342900" algn="just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IN" sz="2400" dirty="0">
              <a:latin typeface="+mj-lt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F3AFF9A-E1E2-1039-F0EE-2E78475A6411}"/>
              </a:ext>
            </a:extLst>
          </p:cNvPr>
          <p:cNvSpPr txBox="1">
            <a:spLocks/>
          </p:cNvSpPr>
          <p:nvPr/>
        </p:nvSpPr>
        <p:spPr>
          <a:xfrm>
            <a:off x="120445" y="712913"/>
            <a:ext cx="9906000" cy="86973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sz="2800" b="1" u="sng" dirty="0">
                <a:latin typeface="Arial" charset="0"/>
                <a:cs typeface="Arial" charset="0"/>
              </a:rPr>
              <a:t>LITERATURE SURVEY</a:t>
            </a:r>
            <a:endParaRPr lang="en-IN" sz="2800" b="1" u="sng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4D06CC-0F02-A717-B75F-1E9B013F3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68757"/>
              </p:ext>
            </p:extLst>
          </p:nvPr>
        </p:nvGraphicFramePr>
        <p:xfrm>
          <a:off x="304800" y="1468481"/>
          <a:ext cx="9311148" cy="42391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95296">
                  <a:extLst>
                    <a:ext uri="{9D8B030D-6E8A-4147-A177-3AD203B41FA5}">
                      <a16:colId xmlns:a16="http://schemas.microsoft.com/office/drawing/2014/main" val="2254401873"/>
                    </a:ext>
                  </a:extLst>
                </a:gridCol>
                <a:gridCol w="1080523">
                  <a:extLst>
                    <a:ext uri="{9D8B030D-6E8A-4147-A177-3AD203B41FA5}">
                      <a16:colId xmlns:a16="http://schemas.microsoft.com/office/drawing/2014/main" val="2660088172"/>
                    </a:ext>
                  </a:extLst>
                </a:gridCol>
                <a:gridCol w="2472929">
                  <a:extLst>
                    <a:ext uri="{9D8B030D-6E8A-4147-A177-3AD203B41FA5}">
                      <a16:colId xmlns:a16="http://schemas.microsoft.com/office/drawing/2014/main" val="188261764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265896871"/>
                    </a:ext>
                  </a:extLst>
                </a:gridCol>
              </a:tblGrid>
              <a:tr h="386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Author / Reference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Work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solidFill>
                            <a:schemeClr val="bg1"/>
                          </a:solidFill>
                        </a:rPr>
                        <a:t>Key Contribution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045083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E. Seevinck et al.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1987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Static Noise Margin Analysis of SRAM Cells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Introduced the butterfly curve method for evaluating SRAM stability using SNM.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58545"/>
                  </a:ext>
                </a:extLst>
              </a:tr>
              <a:tr h="754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Sung-Mo Kang &amp; Yusuf Leblebici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2003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CMOS Digital Integrated Circuits: Analysis and Design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Explained SRAM cell operation, transistor sizing, and memory architecture design.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68782"/>
                  </a:ext>
                </a:extLst>
              </a:tr>
              <a:tr h="7796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N. Weste &amp; D. Harris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2011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CMOS VLSI Design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Discussed SRAM architecture and peripheral circuit design challenges in modern CMOS technology.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647781"/>
                  </a:ext>
                </a:extLst>
              </a:tr>
              <a:tr h="727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B. Razavi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/>
                        <a:t>2012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Design of Analog CMOS Integrated Circuits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Provided insights into sense amplifier and differential circuit design used in memory systems.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109561"/>
                  </a:ext>
                </a:extLst>
              </a:tr>
              <a:tr h="7929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Y. Zhang et al.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2010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/>
                        <a:t>Modified SRAM Cell Architectures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/>
                        <a:t>Demonstrated that 7T SRAM cells improve stability and reduce leakage compared to 6T cells.</a:t>
                      </a:r>
                    </a:p>
                  </a:txBody>
                  <a:tcPr marL="46659" marR="46659" marT="23330" marB="2333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62845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95F41-4E12-9CCF-903D-45DFB3A9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4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72D1001B-B66C-FBC0-1BAC-FE968B9EE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6DBF47-DB6A-332D-42F6-17FAC5A2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86" y="1737264"/>
            <a:ext cx="9655277" cy="4407155"/>
          </a:xfrm>
        </p:spPr>
        <p:txBody>
          <a:bodyPr rtlCol="0">
            <a:no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Conventional </a:t>
            </a:r>
            <a:r>
              <a:rPr lang="en-US" sz="1500" b="1" dirty="0"/>
              <a:t>6T SRAM cells</a:t>
            </a:r>
            <a:r>
              <a:rPr lang="en-US" sz="1500" dirty="0"/>
              <a:t> suffer from </a:t>
            </a:r>
            <a:r>
              <a:rPr lang="en-US" sz="1500" b="1" dirty="0"/>
              <a:t>reduced stability and reliability</a:t>
            </a:r>
            <a:r>
              <a:rPr lang="en-US" sz="1500" dirty="0"/>
              <a:t> as CMOS technology scales down.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During </a:t>
            </a:r>
            <a:r>
              <a:rPr lang="en-US" sz="1500" b="1" dirty="0"/>
              <a:t>read operation</a:t>
            </a:r>
            <a:r>
              <a:rPr lang="en-US" sz="1500" dirty="0"/>
              <a:t>, stored data may get disturbed due to direct connection between </a:t>
            </a:r>
            <a:r>
              <a:rPr lang="en-US" sz="1500" b="1" dirty="0"/>
              <a:t>storage nodes and bitlines</a:t>
            </a:r>
            <a:r>
              <a:rPr lang="en-US" sz="150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Small voltage difference developed on </a:t>
            </a:r>
            <a:r>
              <a:rPr lang="en-US" sz="1500" b="1" dirty="0"/>
              <a:t>bitlines (BL and BLB)</a:t>
            </a:r>
            <a:r>
              <a:rPr lang="en-US" sz="1500" dirty="0"/>
              <a:t> during read operations makes </a:t>
            </a:r>
            <a:r>
              <a:rPr lang="en-US" sz="1500" b="1" dirty="0"/>
              <a:t>data sensing difficult</a:t>
            </a:r>
            <a:r>
              <a:rPr lang="en-US" sz="150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Increasing transistor leakage and power consumption also affect </a:t>
            </a:r>
            <a:r>
              <a:rPr lang="en-US" sz="1500" b="1" dirty="0"/>
              <a:t>overall memory efficiency</a:t>
            </a:r>
            <a:r>
              <a:rPr lang="en-US" sz="150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In addition to the SRAM cell, efficient </a:t>
            </a:r>
            <a:r>
              <a:rPr lang="en-US" sz="1500" b="1" dirty="0"/>
              <a:t>peripheral circuits</a:t>
            </a:r>
            <a:r>
              <a:rPr lang="en-US" sz="1500" dirty="0"/>
              <a:t> such as </a:t>
            </a:r>
            <a:r>
              <a:rPr lang="en-US" sz="1500" b="1" dirty="0"/>
              <a:t>row decoder, </a:t>
            </a:r>
            <a:r>
              <a:rPr lang="en-US" sz="1500" b="1" dirty="0" err="1"/>
              <a:t>precharge</a:t>
            </a:r>
            <a:r>
              <a:rPr lang="en-US" sz="1500" b="1" dirty="0"/>
              <a:t> circuit, write driver, and sense amplifier</a:t>
            </a:r>
            <a:r>
              <a:rPr lang="en-US" sz="1500" dirty="0"/>
              <a:t> are required for reliable memory operation.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Therefore, there is a need to design an </a:t>
            </a:r>
            <a:r>
              <a:rPr lang="en-US" sz="1500" b="1" dirty="0"/>
              <a:t>optimized SRAM architecture with improved stability, reduced power consumption, and reliable read/write operations</a:t>
            </a:r>
            <a:r>
              <a:rPr lang="en-US" sz="1500" dirty="0"/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3D9073-DFD1-9A1D-E7E4-5D276153F73A}"/>
              </a:ext>
            </a:extLst>
          </p:cNvPr>
          <p:cNvSpPr txBox="1">
            <a:spLocks/>
          </p:cNvSpPr>
          <p:nvPr/>
        </p:nvSpPr>
        <p:spPr>
          <a:xfrm>
            <a:off x="19050" y="900394"/>
            <a:ext cx="9906000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defRPr/>
            </a:pPr>
            <a:r>
              <a:rPr lang="en-US" sz="3000" b="1" u="sng" dirty="0">
                <a:latin typeface="Arial" charset="0"/>
                <a:cs typeface="Arial" charset="0"/>
              </a:rPr>
              <a:t>PROBLEM STATEMENT</a:t>
            </a:r>
            <a:endParaRPr lang="en-IN" sz="30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A2F9B-651F-EC38-02D7-0AEC10E5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5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33AD7428-19DE-121D-7B78-D80EA965C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0"/>
            <a:ext cx="102298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0220D57C-52B9-BE64-E50C-F4348E4592E2}"/>
              </a:ext>
            </a:extLst>
          </p:cNvPr>
          <p:cNvSpPr txBox="1">
            <a:spLocks/>
          </p:cNvSpPr>
          <p:nvPr/>
        </p:nvSpPr>
        <p:spPr bwMode="auto">
          <a:xfrm>
            <a:off x="258098" y="690051"/>
            <a:ext cx="4542502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600" b="1" u="sng" dirty="0"/>
              <a:t>SRAM System Architecture</a:t>
            </a:r>
            <a:endParaRPr lang="en-US" sz="26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E3A77-D94E-0CE6-115F-CAFA53074D79}"/>
              </a:ext>
            </a:extLst>
          </p:cNvPr>
          <p:cNvSpPr txBox="1"/>
          <p:nvPr/>
        </p:nvSpPr>
        <p:spPr>
          <a:xfrm>
            <a:off x="145026" y="1418829"/>
            <a:ext cx="5046405" cy="439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Designed a </a:t>
            </a:r>
            <a:r>
              <a:rPr lang="en-US" sz="1400" b="1" dirty="0"/>
              <a:t>16 × 8 SRAM array (128-bit or 16byte memory)</a:t>
            </a:r>
            <a:r>
              <a:rPr lang="en-US" sz="1400" dirty="0"/>
              <a:t> using </a:t>
            </a:r>
            <a:r>
              <a:rPr lang="en-US" sz="1400" b="1" dirty="0"/>
              <a:t>180 nm CMOS</a:t>
            </a:r>
            <a:r>
              <a:rPr lang="en-US" sz="1400" dirty="0"/>
              <a:t> technology in Cadence Virtuoso.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SRAM system consists of a </a:t>
            </a:r>
            <a:r>
              <a:rPr lang="en-US" sz="1400" b="1" dirty="0"/>
              <a:t>cell array and peripheral circuits</a:t>
            </a:r>
            <a:r>
              <a:rPr lang="en-US" sz="1400" dirty="0"/>
              <a:t> for read/write operations. 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Main Blocks -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SRAM Cell Array</a:t>
            </a:r>
            <a:r>
              <a:rPr lang="en-IN" sz="1400" dirty="0"/>
              <a:t> – stores binary data using SRAM cells.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Row Decoder</a:t>
            </a:r>
            <a:r>
              <a:rPr lang="en-IN" sz="1400" dirty="0"/>
              <a:t> – converts 4-bit address into 16 </a:t>
            </a:r>
            <a:r>
              <a:rPr lang="en-IN" sz="1400" dirty="0" err="1"/>
              <a:t>wordlines</a:t>
            </a:r>
            <a:r>
              <a:rPr lang="en-IN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Bitlines (BL / BLB)</a:t>
            </a:r>
            <a:r>
              <a:rPr lang="en-IN" sz="1400" dirty="0"/>
              <a:t> – used for read and write operations.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Precharge Circuit</a:t>
            </a:r>
            <a:r>
              <a:rPr lang="en-IN" sz="1400" dirty="0"/>
              <a:t> – charges bitlines to VDD before read.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Write Driver</a:t>
            </a:r>
            <a:r>
              <a:rPr lang="en-IN" sz="1400" dirty="0"/>
              <a:t> – writes input data onto bitlines.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Sense Amplifier</a:t>
            </a:r>
            <a:r>
              <a:rPr lang="en-IN" sz="1400" dirty="0"/>
              <a:t> – detects small voltage differences during read.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54764-243A-9771-3470-A82F3AA88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92" t="-896" r="-791" b="-1818"/>
          <a:stretch>
            <a:fillRect/>
          </a:stretch>
        </p:blipFill>
        <p:spPr>
          <a:xfrm>
            <a:off x="5191431" y="1046553"/>
            <a:ext cx="4542504" cy="47648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7A99C7-831E-0A4D-3A3A-4F501422399F}"/>
              </a:ext>
            </a:extLst>
          </p:cNvPr>
          <p:cNvSpPr txBox="1"/>
          <p:nvPr/>
        </p:nvSpPr>
        <p:spPr>
          <a:xfrm>
            <a:off x="5053781" y="5810865"/>
            <a:ext cx="4707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1 SRAM system architecture</a:t>
            </a:r>
            <a:endParaRPr lang="en-IN" sz="12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58C6D-A1A7-D470-2765-59EB09C3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6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C307-1739-DB65-AC2F-5D0DA61F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2DAD120C-4146-700B-DBCB-CB46AD47A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986"/>
            <a:ext cx="9906000" cy="7157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10692CD7-82D0-12D5-1850-21D9D165CC6C}"/>
              </a:ext>
            </a:extLst>
          </p:cNvPr>
          <p:cNvSpPr txBox="1">
            <a:spLocks/>
          </p:cNvSpPr>
          <p:nvPr/>
        </p:nvSpPr>
        <p:spPr bwMode="auto">
          <a:xfrm>
            <a:off x="-493151" y="567626"/>
            <a:ext cx="5461205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IN" sz="2600" b="1" u="sng" dirty="0"/>
              <a:t>6T SRAM Cell Design</a:t>
            </a:r>
            <a:endParaRPr lang="en-US" sz="26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03E25-D86D-D7EE-D23F-FB7AE4817E60}"/>
              </a:ext>
            </a:extLst>
          </p:cNvPr>
          <p:cNvSpPr txBox="1"/>
          <p:nvPr/>
        </p:nvSpPr>
        <p:spPr>
          <a:xfrm>
            <a:off x="116451" y="3513048"/>
            <a:ext cx="4032761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/>
              <a:t>Basic Operations</a:t>
            </a:r>
            <a:endParaRPr lang="en-US" sz="1600" u="sng" dirty="0"/>
          </a:p>
          <a:p>
            <a:pPr>
              <a:lnSpc>
                <a:spcPct val="150000"/>
              </a:lnSpc>
            </a:pPr>
            <a:r>
              <a:rPr lang="en-US" sz="1400" b="1" dirty="0"/>
              <a:t>1. Hold:</a:t>
            </a:r>
            <a:r>
              <a:rPr lang="en-US" sz="1400" dirty="0"/>
              <a:t> WL = 0, stored data maintained</a:t>
            </a:r>
            <a:br>
              <a:rPr lang="en-US" sz="1400" dirty="0"/>
            </a:br>
            <a:r>
              <a:rPr lang="en-US" sz="1400" b="1" dirty="0"/>
              <a:t>2. Read:</a:t>
            </a:r>
            <a:r>
              <a:rPr lang="en-US" sz="1400" dirty="0"/>
              <a:t> WL = 1, data sensed through bitlines</a:t>
            </a:r>
            <a:br>
              <a:rPr lang="en-US" sz="1400" dirty="0"/>
            </a:br>
            <a:r>
              <a:rPr lang="en-US" sz="1400" b="1" dirty="0"/>
              <a:t>3. Write:</a:t>
            </a:r>
            <a:r>
              <a:rPr lang="en-US" sz="1400" dirty="0"/>
              <a:t> WL = 1, write driver forces new data into the cell.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62368-2326-5B8F-1076-2F694D552546}"/>
              </a:ext>
            </a:extLst>
          </p:cNvPr>
          <p:cNvSpPr txBox="1"/>
          <p:nvPr/>
        </p:nvSpPr>
        <p:spPr>
          <a:xfrm>
            <a:off x="116452" y="1333639"/>
            <a:ext cx="40327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Conventional SRAM cell composed of </a:t>
            </a:r>
            <a:r>
              <a:rPr lang="en-US" sz="1400" b="1" dirty="0"/>
              <a:t>6 transistors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Two cross-coupled inverters</a:t>
            </a:r>
            <a:r>
              <a:rPr lang="en-US" sz="1400" dirty="0"/>
              <a:t> store one bit of data at nodes </a:t>
            </a:r>
            <a:r>
              <a:rPr lang="en-US" sz="1400" b="1" dirty="0"/>
              <a:t>Q and QB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Access transistors</a:t>
            </a:r>
            <a:r>
              <a:rPr lang="en-US" sz="1400" dirty="0"/>
              <a:t> controlled by </a:t>
            </a:r>
            <a:r>
              <a:rPr lang="en-US" sz="1400" b="1" dirty="0"/>
              <a:t>Wordline (WL)</a:t>
            </a:r>
            <a:r>
              <a:rPr lang="en-US" sz="1400" dirty="0"/>
              <a:t> connect the cell to </a:t>
            </a:r>
            <a:r>
              <a:rPr lang="en-US" sz="1400" b="1" dirty="0"/>
              <a:t>BL and BLB</a:t>
            </a:r>
            <a:r>
              <a:rPr lang="en-US" sz="1400" dirty="0"/>
              <a:t>.</a:t>
            </a:r>
          </a:p>
          <a:p>
            <a:endParaRPr lang="en-IN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825DD1-54F3-C826-87EC-54297004EA72}"/>
              </a:ext>
            </a:extLst>
          </p:cNvPr>
          <p:cNvGrpSpPr/>
          <p:nvPr/>
        </p:nvGrpSpPr>
        <p:grpSpPr>
          <a:xfrm>
            <a:off x="4619625" y="1091381"/>
            <a:ext cx="5169923" cy="4914046"/>
            <a:chOff x="-183503" y="472182"/>
            <a:chExt cx="5915013" cy="28561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529C428-9A1F-33F1-8466-94873363C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3" r="3888"/>
            <a:stretch>
              <a:fillRect/>
            </a:stretch>
          </p:blipFill>
          <p:spPr bwMode="auto">
            <a:xfrm>
              <a:off x="-183503" y="472182"/>
              <a:ext cx="5915013" cy="264570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1AEE58E1-37BD-C780-2CD1-E94585B6F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77988"/>
              <a:ext cx="5731510" cy="150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2. 6T-SRAM schematic design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6F73-4599-D6CE-0CA2-CDD21DA8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7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85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39F8-5112-EF75-0A3A-9FF93B0E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831C46B0-9212-8B7A-5F5C-B77F8AADB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17CF731C-6A46-F9D3-68FE-4806792CE079}"/>
              </a:ext>
            </a:extLst>
          </p:cNvPr>
          <p:cNvSpPr txBox="1">
            <a:spLocks/>
          </p:cNvSpPr>
          <p:nvPr/>
        </p:nvSpPr>
        <p:spPr bwMode="auto">
          <a:xfrm>
            <a:off x="226142" y="830199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800" b="1" u="sng" dirty="0"/>
              <a:t>Transistor Sizing Methodology</a:t>
            </a:r>
            <a:endParaRPr lang="en-IN" sz="2800" u="sng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FE52D6-77F5-0907-8FE7-0BCB5672F95E}"/>
              </a:ext>
            </a:extLst>
          </p:cNvPr>
          <p:cNvGrpSpPr/>
          <p:nvPr/>
        </p:nvGrpSpPr>
        <p:grpSpPr>
          <a:xfrm>
            <a:off x="129049" y="1779639"/>
            <a:ext cx="5809635" cy="2960875"/>
            <a:chOff x="207708" y="1530715"/>
            <a:chExt cx="6302476" cy="29608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EB397BF-232B-D193-3D1D-F977491C904D}"/>
                    </a:ext>
                  </a:extLst>
                </p:cNvPr>
                <p:cNvSpPr txBox="1"/>
                <p:nvPr/>
              </p:nvSpPr>
              <p:spPr>
                <a:xfrm>
                  <a:off x="207708" y="1530715"/>
                  <a:ext cx="6302476" cy="29608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IN" sz="1400" dirty="0"/>
                    <a:t>Proper transistor sizing ensures </a:t>
                  </a:r>
                  <a:r>
                    <a:rPr lang="en-IN" sz="1400" b="1" dirty="0"/>
                    <a:t>read stability and write stability</a:t>
                  </a:r>
                  <a:r>
                    <a:rPr lang="en-IN" sz="1400" dirty="0"/>
                    <a:t> in SRAM cells.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IN" sz="1400" b="1" dirty="0"/>
                    <a:t>Design Conditions –                               &amp;</a:t>
                  </a:r>
                </a:p>
                <a:p>
                  <a:pPr>
                    <a:lnSpc>
                      <a:spcPct val="150000"/>
                    </a:lnSpc>
                  </a:pPr>
                  <a:endParaRPr lang="en-IN" sz="14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IN" sz="1400" dirty="0"/>
                    <a:t>(where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𝑃𝐷</m:t>
                          </m:r>
                        </m:sub>
                      </m:sSub>
                      <m:r>
                        <a:rPr lang="ar-AE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 dirty="0"/>
                    <a:t>is width of Pull-down transistors (NMOS),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𝐴𝑋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 dirty="0"/>
                    <a:t>is width of axial transistors (NMOS)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𝑃𝑈</m:t>
                          </m:r>
                        </m:sub>
                      </m:sSub>
                    </m:oMath>
                  </a14:m>
                  <a:r>
                    <a:rPr lang="en-US" sz="1400" dirty="0"/>
                    <a:t> is width of Pull-up transistors)</a:t>
                  </a:r>
                </a:p>
                <a:p>
                  <a:pPr>
                    <a:lnSpc>
                      <a:spcPct val="150000"/>
                    </a:lnSpc>
                  </a:pPr>
                  <a:endParaRPr lang="en-IN" sz="1400" b="1" dirty="0"/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Ø"/>
                  </a:pPr>
                  <a:r>
                    <a:rPr lang="en-IN" sz="1400" b="1" dirty="0"/>
                    <a:t>Sizing Rule</a:t>
                  </a:r>
                  <a:r>
                    <a:rPr lang="en-IN" sz="1400" dirty="0"/>
                    <a:t> - </a:t>
                  </a:r>
                  <a:r>
                    <a:rPr lang="en-IN" sz="1400" b="1" dirty="0"/>
                    <a:t>Pull-down NMOS &gt; Access NMOS &gt; Pull-up PMOS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N" sz="1400" dirty="0"/>
                    <a:t>(Example sizing used: PD = </a:t>
                  </a:r>
                  <a:r>
                    <a:rPr lang="en-IN" sz="1400" b="1" dirty="0"/>
                    <a:t>1.2 µm</a:t>
                  </a:r>
                  <a:r>
                    <a:rPr lang="en-IN" sz="1400" dirty="0"/>
                    <a:t>, AX = </a:t>
                  </a:r>
                  <a:r>
                    <a:rPr lang="en-IN" sz="1400" b="1" dirty="0"/>
                    <a:t>600 nm</a:t>
                  </a:r>
                  <a:r>
                    <a:rPr lang="en-IN" sz="1400" dirty="0"/>
                    <a:t>, PU = </a:t>
                  </a:r>
                  <a:r>
                    <a:rPr lang="en-IN" sz="1400" b="1" dirty="0"/>
                    <a:t>400 nm)</a:t>
                  </a:r>
                  <a:endParaRPr lang="en-IN" sz="1400" dirty="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EB397BF-232B-D193-3D1D-F977491C90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708" y="1530715"/>
                  <a:ext cx="6302476" cy="2960875"/>
                </a:xfrm>
                <a:prstGeom prst="rect">
                  <a:avLst/>
                </a:prstGeom>
                <a:blipFill>
                  <a:blip r:embed="rId3"/>
                  <a:stretch>
                    <a:fillRect l="-315" b="-102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8273BA8-7A00-7FB7-B37F-B34CB83588AD}"/>
                </a:ext>
              </a:extLst>
            </p:cNvPr>
            <p:cNvGrpSpPr/>
            <p:nvPr/>
          </p:nvGrpSpPr>
          <p:grpSpPr>
            <a:xfrm>
              <a:off x="2395139" y="1986464"/>
              <a:ext cx="3519057" cy="752257"/>
              <a:chOff x="2395139" y="1986464"/>
              <a:chExt cx="3519057" cy="7522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EED66A27-E037-CBEE-8E94-41CEC96952FE}"/>
                      </a:ext>
                    </a:extLst>
                  </p:cNvPr>
                  <p:cNvSpPr txBox="1"/>
                  <p:nvPr/>
                </p:nvSpPr>
                <p:spPr>
                  <a:xfrm>
                    <a:off x="2395139" y="1986464"/>
                    <a:ext cx="1752285" cy="7501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𝐶𝑅</m:t>
                          </m:r>
                          <m:r>
                            <a:rPr lang="en-IN" sz="1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𝑃𝐷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𝐴𝑋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ar-AE" sz="140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EED66A27-E037-CBEE-8E94-41CEC96952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5139" y="1986464"/>
                    <a:ext cx="1752285" cy="75014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2F928DC-5E6C-4DEF-9395-01317103F9C4}"/>
                      </a:ext>
                    </a:extLst>
                  </p:cNvPr>
                  <p:cNvSpPr txBox="1"/>
                  <p:nvPr/>
                </p:nvSpPr>
                <p:spPr>
                  <a:xfrm>
                    <a:off x="4147424" y="1986464"/>
                    <a:ext cx="1766772" cy="7522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𝐴𝑋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𝑃𝑈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ar-AE" sz="14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2F928DC-5E6C-4DEF-9395-01317103F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7424" y="1986464"/>
                    <a:ext cx="1766772" cy="75225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6F226B7-EEFC-DA2B-AAA4-BA6546CAE5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448" y="1576208"/>
            <a:ext cx="3780503" cy="3680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B8399E-6885-E743-67D8-5A0924152EA7}"/>
              </a:ext>
            </a:extLst>
          </p:cNvPr>
          <p:cNvSpPr txBox="1"/>
          <p:nvPr/>
        </p:nvSpPr>
        <p:spPr>
          <a:xfrm>
            <a:off x="5996448" y="5256590"/>
            <a:ext cx="3780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</a:rPr>
              <a:t>Fig. 3 SRAM sizing </a:t>
            </a:r>
            <a:endParaRPr lang="en-IN" sz="12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9A522E-ECEC-53CC-02FC-D1675779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8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36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C228-05A7-A202-BD12-EF1A2017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7EB39D9-2C5E-F358-335E-BAEF0D4A22B7}"/>
              </a:ext>
            </a:extLst>
          </p:cNvPr>
          <p:cNvGrpSpPr/>
          <p:nvPr/>
        </p:nvGrpSpPr>
        <p:grpSpPr>
          <a:xfrm>
            <a:off x="145025" y="0"/>
            <a:ext cx="4807975" cy="6980565"/>
            <a:chOff x="145025" y="88490"/>
            <a:chExt cx="4935794" cy="69805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D34F63F-361E-7A87-3C7B-E4916537B627}"/>
                    </a:ext>
                  </a:extLst>
                </p:cNvPr>
                <p:cNvSpPr txBox="1"/>
                <p:nvPr/>
              </p:nvSpPr>
              <p:spPr>
                <a:xfrm>
                  <a:off x="145025" y="88490"/>
                  <a:ext cx="4935794" cy="6980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IN" sz="1450" b="1" u="sng" dirty="0"/>
                    <a:t>MOSFET Current Relation</a:t>
                  </a:r>
                  <a:r>
                    <a:rPr lang="en-IN" sz="1450" b="1" dirty="0"/>
                    <a:t>: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145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0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ar-AE" sz="1450" b="1" i="1">
                            <a:latin typeface="Cambria Math" panose="02040503050406030204" pitchFamily="18" charset="0"/>
                          </a:rPr>
                          <m:t>𝝁</m:t>
                        </m:r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𝒐𝒙</m:t>
                            </m:r>
                          </m:sub>
                        </m:sSub>
                        <m:f>
                          <m:f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num>
                          <m:den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den>
                        </m:f>
                        <m:d>
                          <m:dPr>
                            <m:endChr m:val=""/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𝑮𝑺</m:t>
                                </m:r>
                              </m:sub>
                            </m:sSub>
                            <m:r>
                              <a:rPr lang="ar-AE" sz="1450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45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450" b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ar-AE" sz="1450" b="1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IN" sz="1450" b="1" u="sng" dirty="0"/>
                    <a:t>Defined transistor strength</a:t>
                  </a:r>
                  <a:r>
                    <a:rPr lang="en-IN" sz="1450" b="1" dirty="0"/>
                    <a:t>: </a:t>
                  </a:r>
                  <a14:m>
                    <m:oMath xmlns:m="http://schemas.openxmlformats.org/officeDocument/2006/math">
                      <m:r>
                        <a:rPr lang="en-US" sz="1450" b="1" i="0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a14:m>
                  <a:endParaRPr lang="en-US" sz="1450" b="1" i="0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50" b="1" i="1">
                            <a:latin typeface="Cambria Math" panose="02040503050406030204" pitchFamily="18" charset="0"/>
                          </a:rPr>
                          <m:t>𝜷</m:t>
                        </m:r>
                        <m:r>
                          <a:rPr lang="en-IN" sz="145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450" b="1" i="1">
                            <a:latin typeface="Cambria Math" panose="02040503050406030204" pitchFamily="18" charset="0"/>
                          </a:rPr>
                          <m:t>𝝁</m:t>
                        </m:r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𝒐𝒙</m:t>
                            </m:r>
                          </m:sub>
                        </m:sSub>
                        <m:f>
                          <m:f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num>
                          <m:den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𝑳</m:t>
                            </m:r>
                          </m:den>
                        </m:f>
                      </m:oMath>
                    </m:oMathPara>
                  </a14:m>
                  <a:endParaRPr lang="ar-AE" sz="1450" b="1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IN" sz="1450" dirty="0"/>
                    <a:t>(Where, </a:t>
                  </a:r>
                  <a:r>
                    <a:rPr lang="el-GR" sz="1450" b="1" dirty="0"/>
                    <a:t>μ</a:t>
                  </a:r>
                  <a:r>
                    <a:rPr lang="el-GR" sz="1450" dirty="0"/>
                    <a:t> → </a:t>
                  </a:r>
                  <a:r>
                    <a:rPr lang="en-IN" sz="1450" dirty="0"/>
                    <a:t>carrier mobility, </a:t>
                  </a:r>
                  <a:r>
                    <a:rPr lang="en-IN" sz="1450" b="1" dirty="0"/>
                    <a:t>Cox</a:t>
                  </a:r>
                  <a:r>
                    <a:rPr lang="en-IN" sz="1450" dirty="0"/>
                    <a:t> → oxide capacitance &amp; </a:t>
                  </a:r>
                  <a:r>
                    <a:rPr lang="en-IN" sz="1450" b="1" dirty="0"/>
                    <a:t>W/L</a:t>
                  </a:r>
                  <a:r>
                    <a:rPr lang="en-IN" sz="1450" dirty="0"/>
                    <a:t> → transistor aspect ratio)</a:t>
                  </a:r>
                </a:p>
                <a:p>
                  <a:pPr>
                    <a:lnSpc>
                      <a:spcPct val="150000"/>
                    </a:lnSpc>
                  </a:pPr>
                  <a:endParaRPr lang="en-IN" sz="8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IN" sz="1450" b="1" u="sng" dirty="0"/>
                    <a:t>Read Stability (Cell Ratio)</a:t>
                  </a:r>
                  <a:r>
                    <a:rPr lang="en-IN" sz="1450" b="1" dirty="0"/>
                    <a:t> – </a:t>
                  </a:r>
                  <a:r>
                    <a:rPr lang="en-US" sz="1450" dirty="0"/>
                    <a:t>During </a:t>
                  </a:r>
                  <a:r>
                    <a:rPr lang="en-US" sz="1450" b="1" dirty="0"/>
                    <a:t>read operation</a:t>
                  </a:r>
                  <a:r>
                    <a:rPr lang="en-US" sz="1450" dirty="0"/>
                    <a:t>: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sz="1450" dirty="0"/>
                    <a:t>1. Bitlines are precharged to </a:t>
                  </a:r>
                  <a:r>
                    <a:rPr lang="en-US" sz="1450" b="1" dirty="0"/>
                    <a:t>VDD</a:t>
                  </a:r>
                  <a:endParaRPr lang="en-US" sz="145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sz="1450" dirty="0"/>
                    <a:t>2. Wordline becomes </a:t>
                  </a:r>
                  <a:r>
                    <a:rPr lang="en-US" sz="1450" b="1" dirty="0"/>
                    <a:t>WL = 1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sz="5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sz="1450" dirty="0"/>
                    <a:t>If stored value is Q = 0, QB = 1. </a:t>
                  </a:r>
                  <a:r>
                    <a:rPr lang="en-IN" sz="1450" dirty="0"/>
                    <a:t>Then BL tries to pull node </a:t>
                  </a:r>
                  <a:r>
                    <a:rPr lang="en-IN" sz="1450" b="1" dirty="0"/>
                    <a:t>Q upward</a:t>
                  </a:r>
                  <a:r>
                    <a:rPr lang="en-IN" sz="1450" dirty="0"/>
                    <a:t> through the access transistor. And this can accidentally flip the stored value. To prevent this: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IN" sz="1450" b="1"/>
                          <m:t>Pull</m:t>
                        </m:r>
                        <m:r>
                          <m:rPr>
                            <m:nor/>
                          </m:rPr>
                          <a:rPr lang="en-IN" sz="1450" b="1"/>
                          <m:t>−</m:t>
                        </m:r>
                        <m:r>
                          <m:rPr>
                            <m:nor/>
                          </m:rPr>
                          <a:rPr lang="en-IN" sz="1450" b="1"/>
                          <m:t>down</m:t>
                        </m:r>
                        <m:r>
                          <m:rPr>
                            <m:nor/>
                          </m:rPr>
                          <a:rPr lang="en-IN" sz="1450" b="1" i="1"/>
                          <m:t> </m:t>
                        </m:r>
                        <m:r>
                          <m:rPr>
                            <m:nor/>
                          </m:rPr>
                          <a:rPr lang="en-IN" sz="1450" b="1" i="1"/>
                          <m:t>strength</m:t>
                        </m:r>
                        <m:r>
                          <a:rPr lang="en-IN" sz="1450" b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nor/>
                          </m:rPr>
                          <a:rPr lang="en-IN" sz="1450" b="1" i="1"/>
                          <m:t>Access</m:t>
                        </m:r>
                        <m:r>
                          <m:rPr>
                            <m:nor/>
                          </m:rPr>
                          <a:rPr lang="en-IN" sz="1450" b="1" i="1"/>
                          <m:t> </m:t>
                        </m:r>
                        <m:r>
                          <m:rPr>
                            <m:nor/>
                          </m:rPr>
                          <a:rPr lang="en-IN" sz="1450" b="1" i="1"/>
                          <m:t>strength</m:t>
                        </m:r>
                      </m:oMath>
                    </m:oMathPara>
                  </a14:m>
                  <a:endParaRPr lang="en-IN" sz="1450" b="1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IN" sz="1450" dirty="0"/>
                    <a:t>Mathematically: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𝑷𝑫</m:t>
                            </m:r>
                          </m:sub>
                        </m:sSub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𝑨𝑿</m:t>
                            </m:r>
                          </m:sub>
                        </m:sSub>
                      </m:oMath>
                    </m:oMathPara>
                  </a14:m>
                  <a:endParaRPr lang="en-IN" sz="1450" b="1" dirty="0"/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ar-AE" sz="1450" b="1" i="1">
                            <a:latin typeface="Cambria Math" panose="02040503050406030204" pitchFamily="18" charset="0"/>
                          </a:rPr>
                          <m:t>𝑪𝑹</m:t>
                        </m:r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𝑷𝑫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𝑨𝑿</m:t>
                                </m:r>
                              </m:sub>
                            </m:sSub>
                          </m:den>
                        </m:f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𝑷𝑫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ar-AE" sz="1450" b="1" i="1">
                                    <a:latin typeface="Cambria Math" panose="02040503050406030204" pitchFamily="18" charset="0"/>
                                  </a:rPr>
                                  <m:t>𝑨𝑿</m:t>
                                </m:r>
                              </m:sub>
                            </m:sSub>
                          </m:den>
                        </m:f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sz="145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450" b="1" i="1"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br>
                    <a:rPr lang="en-IN" sz="1450" dirty="0"/>
                  </a:br>
                  <a:endParaRPr lang="en-IN" sz="1450" dirty="0"/>
                </a:p>
                <a:p>
                  <a:pPr>
                    <a:lnSpc>
                      <a:spcPct val="150000"/>
                    </a:lnSpc>
                  </a:pPr>
                  <a:endParaRPr lang="ar-AE" sz="145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D34F63F-361E-7A87-3C7B-E4916537B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25" y="88490"/>
                  <a:ext cx="4935794" cy="6980565"/>
                </a:xfrm>
                <a:prstGeom prst="rect">
                  <a:avLst/>
                </a:prstGeom>
                <a:blipFill>
                  <a:blip r:embed="rId2"/>
                  <a:stretch>
                    <a:fillRect l="-50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6894CC-9756-71A0-2636-9B802EF5905A}"/>
                </a:ext>
              </a:extLst>
            </p:cNvPr>
            <p:cNvSpPr/>
            <p:nvPr/>
          </p:nvSpPr>
          <p:spPr>
            <a:xfrm>
              <a:off x="1533832" y="599768"/>
              <a:ext cx="2239297" cy="5112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BBD901-7695-3399-1DC5-251278F1AC38}"/>
                </a:ext>
              </a:extLst>
            </p:cNvPr>
            <p:cNvSpPr/>
            <p:nvPr/>
          </p:nvSpPr>
          <p:spPr>
            <a:xfrm>
              <a:off x="1998406" y="1533833"/>
              <a:ext cx="1229032" cy="5112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9E7476-83CC-1578-2EEE-923535AD72B1}"/>
                </a:ext>
              </a:extLst>
            </p:cNvPr>
            <p:cNvSpPr/>
            <p:nvPr/>
          </p:nvSpPr>
          <p:spPr>
            <a:xfrm>
              <a:off x="781664" y="5004619"/>
              <a:ext cx="3711678" cy="3444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7971D7-7DFE-D1E6-6BA1-192CFD381849}"/>
                </a:ext>
              </a:extLst>
            </p:cNvPr>
            <p:cNvSpPr/>
            <p:nvPr/>
          </p:nvSpPr>
          <p:spPr>
            <a:xfrm>
              <a:off x="1533832" y="5648633"/>
              <a:ext cx="2239297" cy="1120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FAF2BB-85EC-9E28-7DDC-B4DF56A6F4C3}"/>
              </a:ext>
            </a:extLst>
          </p:cNvPr>
          <p:cNvGrpSpPr/>
          <p:nvPr/>
        </p:nvGrpSpPr>
        <p:grpSpPr>
          <a:xfrm>
            <a:off x="5080820" y="0"/>
            <a:ext cx="4680156" cy="5798575"/>
            <a:chOff x="5338916" y="100780"/>
            <a:chExt cx="4422059" cy="579857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330E28E-54DD-B51B-856D-61D6783BFA23}"/>
                </a:ext>
              </a:extLst>
            </p:cNvPr>
            <p:cNvGrpSpPr/>
            <p:nvPr/>
          </p:nvGrpSpPr>
          <p:grpSpPr>
            <a:xfrm>
              <a:off x="5338916" y="100780"/>
              <a:ext cx="4422059" cy="5798575"/>
              <a:chOff x="5338916" y="511279"/>
              <a:chExt cx="4422059" cy="57985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D2B05AC1-ED8E-E555-FCCE-2F624E7DA40A}"/>
                      </a:ext>
                    </a:extLst>
                  </p:cNvPr>
                  <p:cNvSpPr txBox="1"/>
                  <p:nvPr/>
                </p:nvSpPr>
                <p:spPr>
                  <a:xfrm>
                    <a:off x="5338916" y="511279"/>
                    <a:ext cx="4422059" cy="57985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IN" sz="1450" b="1" u="sng" dirty="0"/>
                      <a:t>Write Stability (Pull-up Ratio)</a:t>
                    </a:r>
                    <a:r>
                      <a:rPr lang="en-IN" sz="1450" b="1" dirty="0"/>
                      <a:t> - </a:t>
                    </a:r>
                    <a:r>
                      <a:rPr lang="en-US" sz="1450" dirty="0"/>
                      <a:t>During </a:t>
                    </a:r>
                    <a:r>
                      <a:rPr lang="en-US" sz="1450" b="1" dirty="0"/>
                      <a:t>write operation</a:t>
                    </a:r>
                    <a:r>
                      <a:rPr lang="en-US" sz="1450" dirty="0"/>
                      <a:t>, we must force the cell to flip.</a:t>
                    </a:r>
                  </a:p>
                  <a:p>
                    <a:pPr>
                      <a:lnSpc>
                        <a:spcPct val="150000"/>
                      </a:lnSpc>
                    </a:pPr>
                    <a:endParaRPr lang="en-IN" sz="600" b="1" dirty="0"/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IN" sz="1450" dirty="0"/>
                      <a:t>Example: </a:t>
                    </a:r>
                    <a:r>
                      <a:rPr lang="en-US" sz="1450" dirty="0"/>
                      <a:t>Old data = 1       New data = 0</a:t>
                    </a:r>
                    <a:endParaRPr lang="en-IN" sz="1450" b="1" dirty="0"/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sz="1450" dirty="0"/>
                      <a:t>The bitline must </a:t>
                    </a:r>
                    <a:r>
                      <a:rPr lang="en-US" sz="1450" b="1" dirty="0"/>
                      <a:t>override the pull-up PMOS</a:t>
                    </a:r>
                    <a:r>
                      <a:rPr lang="en-US" sz="1450" dirty="0"/>
                      <a:t>. </a:t>
                    </a:r>
                    <a:r>
                      <a:rPr lang="en-IN" sz="1450" dirty="0"/>
                      <a:t>Thus:</a:t>
                    </a:r>
                  </a:p>
                  <a:p>
                    <a:pPr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IN" sz="1450" b="1"/>
                            <m:t>Access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strength</m:t>
                          </m:r>
                          <m:r>
                            <a:rPr lang="en-IN" sz="1450" b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Pull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−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up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1450" b="1" i="1"/>
                            <m:t>strength</m:t>
                          </m:r>
                        </m:oMath>
                      </m:oMathPara>
                    </a14:m>
                    <a:endParaRPr lang="en-IN" sz="1450" b="1" dirty="0"/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IN" sz="1450" dirty="0"/>
                      <a:t>Mathematically:</a:t>
                    </a:r>
                  </a:p>
                  <a:p>
                    <a:pPr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ar-AE" sz="14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5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ar-AE" sz="1450" b="1" i="1">
                                  <a:latin typeface="Cambria Math" panose="02040503050406030204" pitchFamily="18" charset="0"/>
                                </a:rPr>
                                <m:t>𝑨𝑿</m:t>
                              </m:r>
                            </m:sub>
                          </m:sSub>
                          <m:r>
                            <a:rPr lang="ar-AE" sz="1450" b="1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ar-AE" sz="14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5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ar-AE" sz="1450" b="1" i="1">
                                  <a:latin typeface="Cambria Math" panose="02040503050406030204" pitchFamily="18" charset="0"/>
                                </a:rPr>
                                <m:t>𝑷𝑼</m:t>
                              </m:r>
                            </m:sub>
                          </m:sSub>
                        </m:oMath>
                      </m:oMathPara>
                    </a14:m>
                    <a:endParaRPr lang="ar-AE" sz="1450" b="1" dirty="0"/>
                  </a:p>
                  <a:p>
                    <a:pPr>
                      <a:lnSpc>
                        <a:spcPct val="15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ar-AE" sz="1450" b="1" i="1">
                              <a:latin typeface="Cambria Math" panose="02040503050406030204" pitchFamily="18" charset="0"/>
                            </a:rPr>
                            <m:t>𝑷𝑹</m:t>
                          </m:r>
                          <m:r>
                            <a:rPr lang="ar-AE" sz="1450" b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145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𝑨𝑿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𝑷𝑼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1450" b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145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𝑨𝑿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ar-AE" sz="1450" b="1" i="1">
                                      <a:latin typeface="Cambria Math" panose="02040503050406030204" pitchFamily="18" charset="0"/>
                                    </a:rPr>
                                    <m:t>𝑷𝑼</m:t>
                                  </m:r>
                                </m:sub>
                              </m:sSub>
                            </m:den>
                          </m:f>
                          <m:r>
                            <a:rPr lang="ar-AE" sz="1450" b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ar-AE" sz="145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ar-AE" sz="1450" b="1" dirty="0"/>
                  </a:p>
                  <a:p>
                    <a:pPr>
                      <a:lnSpc>
                        <a:spcPct val="150000"/>
                      </a:lnSpc>
                    </a:pPr>
                    <a:br>
                      <a:rPr lang="en-IN" sz="1450" dirty="0"/>
                    </a:br>
                    <a:r>
                      <a:rPr lang="en-IN" sz="1450" b="1" dirty="0"/>
                      <a:t>Conditions:</a:t>
                    </a:r>
                  </a:p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Ø"/>
                    </a:pPr>
                    <a:r>
                      <a:rPr lang="en-IN" sz="1450" b="1" dirty="0"/>
                      <a:t>For Read </a:t>
                    </a:r>
                    <a:r>
                      <a:rPr lang="en-US" sz="1450" b="1" dirty="0"/>
                      <a:t>stability: </a:t>
                    </a:r>
                    <a:r>
                      <a:rPr lang="en-US" sz="1450" dirty="0"/>
                      <a:t>Pull-down NMOS must be stronger than access NMOS.</a:t>
                    </a:r>
                  </a:p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Ø"/>
                    </a:pPr>
                    <a:r>
                      <a:rPr lang="en-US" sz="1450" b="1" dirty="0"/>
                      <a:t>For Write stability: </a:t>
                    </a:r>
                    <a:r>
                      <a:rPr lang="en-US" sz="1450" dirty="0"/>
                      <a:t>Pull-down NMOS must be stronger than access NMOS.</a:t>
                    </a:r>
                    <a:endParaRPr lang="en-IN" sz="1450" b="1" dirty="0"/>
                  </a:p>
                  <a:p>
                    <a:pPr>
                      <a:lnSpc>
                        <a:spcPct val="150000"/>
                      </a:lnSpc>
                    </a:pPr>
                    <a:endParaRPr lang="en-IN" sz="1000" b="1" dirty="0"/>
                  </a:p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q"/>
                    </a:pPr>
                    <a:r>
                      <a:rPr lang="en-IN" sz="1450" b="1" u="sng" dirty="0"/>
                      <a:t>Final SRAM Sizing Rule</a:t>
                    </a:r>
                    <a:r>
                      <a:rPr lang="en-IN" sz="1450" b="1" dirty="0"/>
                      <a:t> -   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𝑷𝑫</m:t>
                            </m:r>
                          </m:sub>
                        </m:sSub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𝑨𝑿</m:t>
                            </m:r>
                          </m:sub>
                        </m:sSub>
                        <m:r>
                          <a:rPr lang="ar-AE" sz="1450" b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ar-AE" sz="145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ar-AE" sz="1450" b="1" i="1">
                                <a:latin typeface="Cambria Math" panose="02040503050406030204" pitchFamily="18" charset="0"/>
                              </a:rPr>
                              <m:t>𝑷𝑼</m:t>
                            </m:r>
                          </m:sub>
                        </m:sSub>
                      </m:oMath>
                    </a14:m>
                    <a:endParaRPr lang="en-IN" sz="1450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D2B05AC1-ED8E-E555-FCCE-2F624E7DA4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8916" y="511279"/>
                    <a:ext cx="4422059" cy="57985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91" b="-21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3933C1F-609B-7C6F-CCF1-8F5D47DC6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3008" y="1533834"/>
                <a:ext cx="20647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E4CAE44-4962-5056-6CEF-0126F374826B}"/>
                  </a:ext>
                </a:extLst>
              </p:cNvPr>
              <p:cNvSpPr/>
              <p:nvPr/>
            </p:nvSpPr>
            <p:spPr>
              <a:xfrm>
                <a:off x="5665837" y="2045110"/>
                <a:ext cx="3711678" cy="34446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CE8EA95-204E-95CC-7282-A08E71B1FB65}"/>
                  </a:ext>
                </a:extLst>
              </p:cNvPr>
              <p:cNvSpPr/>
              <p:nvPr/>
            </p:nvSpPr>
            <p:spPr>
              <a:xfrm>
                <a:off x="6430296" y="2733370"/>
                <a:ext cx="2239297" cy="104221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6E93A8-1A00-01A6-7AFD-345C96A123EE}"/>
                </a:ext>
              </a:extLst>
            </p:cNvPr>
            <p:cNvSpPr/>
            <p:nvPr/>
          </p:nvSpPr>
          <p:spPr>
            <a:xfrm>
              <a:off x="7798823" y="5451989"/>
              <a:ext cx="1741540" cy="4473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B46D8-C7AF-5F1B-8AF7-1DBAC060DA80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0" cy="6858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98A290-E0CA-479C-9689-AAF86109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9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52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C12F-FC35-0E5E-2AA1-90E9BA7A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7ECDD117-24A8-D66F-21E7-00DDC624A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FA26C22D-1501-2AEB-92D6-9A16DA6FF03C}"/>
              </a:ext>
            </a:extLst>
          </p:cNvPr>
          <p:cNvSpPr txBox="1">
            <a:spLocks/>
          </p:cNvSpPr>
          <p:nvPr/>
        </p:nvSpPr>
        <p:spPr bwMode="auto">
          <a:xfrm>
            <a:off x="200640" y="729380"/>
            <a:ext cx="428287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800" b="1" u="sng" dirty="0"/>
              <a:t>Proposed 7T SRAM Cell</a:t>
            </a:r>
            <a:endParaRPr lang="en-US" sz="28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83EF3-C07D-1A79-1A9A-70E1999D06ED}"/>
              </a:ext>
            </a:extLst>
          </p:cNvPr>
          <p:cNvSpPr txBox="1"/>
          <p:nvPr/>
        </p:nvSpPr>
        <p:spPr>
          <a:xfrm>
            <a:off x="200641" y="1485567"/>
            <a:ext cx="4666327" cy="411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One additional NMOS transistor is added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     below the pull-down network of 6T SRAM cell.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/>
              <a:t>Purpose of the Bottom Transistor</a:t>
            </a:r>
            <a:endParaRPr lang="en-US" sz="1400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Reduces read disturbance at the storage node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Improves stability of the SRAM cell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b="1" u="sng" dirty="0"/>
              <a:t>Key Advantages</a:t>
            </a:r>
            <a:endParaRPr lang="en-US" sz="1600" u="sng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Higher Static Noise Margin (SNM)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Improved read stability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Better power efficiency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Additional Transistor Sizing –  </a:t>
            </a:r>
            <a:r>
              <a:rPr lang="en-US" sz="1400" dirty="0"/>
              <a:t>Bottom Access NMOS Width = </a:t>
            </a:r>
            <a:r>
              <a:rPr lang="en-US" sz="1400" b="1" dirty="0"/>
              <a:t>1.2 µm</a:t>
            </a:r>
            <a:endParaRPr lang="en-US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5884E4-5801-FDB1-F316-044F7D071BBE}"/>
              </a:ext>
            </a:extLst>
          </p:cNvPr>
          <p:cNvGrpSpPr/>
          <p:nvPr/>
        </p:nvGrpSpPr>
        <p:grpSpPr>
          <a:xfrm>
            <a:off x="4762809" y="1071717"/>
            <a:ext cx="5070964" cy="5061792"/>
            <a:chOff x="-1" y="68647"/>
            <a:chExt cx="5791518" cy="32244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A8D40A-61F9-32FD-23F0-7DB7B248E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8" b="4504"/>
            <a:stretch>
              <a:fillRect/>
            </a:stretch>
          </p:blipFill>
          <p:spPr bwMode="auto">
            <a:xfrm>
              <a:off x="-1" y="68647"/>
              <a:ext cx="5791518" cy="298612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2CA04513-CAD5-4C41-384A-F388F8610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" y="3107799"/>
              <a:ext cx="5731510" cy="185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4. Proposed 7T-SRAM schematic design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8B1BB-C888-DD4B-D449-1E2E440A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10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7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61F8-FD66-ACC9-6819-B5A140CF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886C84E6-D399-7BF6-AA92-BD6C9CA4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3123" y="0"/>
            <a:ext cx="10328173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FBC92D2D-1210-B2A1-08D5-7B4095F3C325}"/>
              </a:ext>
            </a:extLst>
          </p:cNvPr>
          <p:cNvSpPr txBox="1">
            <a:spLocks/>
          </p:cNvSpPr>
          <p:nvPr/>
        </p:nvSpPr>
        <p:spPr bwMode="auto">
          <a:xfrm>
            <a:off x="0" y="525337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IN" sz="2800" b="1" u="sng" dirty="0"/>
              <a:t>SRAM Functional Verification</a:t>
            </a:r>
            <a:endParaRPr lang="en-IN" sz="2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8DE42F-D008-90D8-AEAB-E448B07FC826}"/>
                  </a:ext>
                </a:extLst>
              </p:cNvPr>
              <p:cNvSpPr txBox="1"/>
              <p:nvPr/>
            </p:nvSpPr>
            <p:spPr>
              <a:xfrm>
                <a:off x="191728" y="1327356"/>
                <a:ext cx="9345562" cy="44414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performed using </a:t>
                </a:r>
                <a:r>
                  <a:rPr lang="en-IN" sz="1400" b="1" dirty="0"/>
                  <a:t>Cadence Virtuoso transient simulation</a:t>
                </a:r>
                <a:endParaRPr lang="en-IN" sz="1400" dirty="0"/>
              </a:p>
              <a:p>
                <a:pPr>
                  <a:lnSpc>
                    <a:spcPct val="150000"/>
                  </a:lnSpc>
                </a:pPr>
                <a:r>
                  <a:rPr lang="en-IN" sz="1400" b="1" u="sng" dirty="0"/>
                  <a:t>Write Operation</a:t>
                </a:r>
                <a:endParaRPr lang="en-IN" sz="1400" u="sng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/>
                  <a:t>Bitlines forced externally (</a:t>
                </a:r>
                <a:r>
                  <a:rPr lang="en-IN" sz="1400" b="1" dirty="0"/>
                  <a:t>BL = data, BLB = </a:t>
                </a:r>
                <a:r>
                  <a:rPr lang="en-IN" sz="1400" b="1" dirty="0" err="1"/>
                  <a:t>data_bar</a:t>
                </a:r>
                <a:r>
                  <a:rPr lang="en-IN" sz="1400" b="1" dirty="0"/>
                  <a:t>)</a:t>
                </a:r>
                <a:r>
                  <a:rPr lang="en-IN" sz="1400" dirty="0"/>
                  <a:t>. Wordline </a:t>
                </a:r>
                <a:r>
                  <a:rPr lang="en-IN" sz="1400" b="1" dirty="0"/>
                  <a:t>WL = 1</a:t>
                </a:r>
                <a:r>
                  <a:rPr lang="en-IN" sz="1400" dirty="0"/>
                  <a:t> enables access transistors.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/>
                  <a:t>Cross-coupled inverters store the written data.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b="1" u="sng" dirty="0"/>
                  <a:t>Read Operation</a:t>
                </a:r>
                <a:endParaRPr lang="en-IN" sz="1400" u="sng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/>
                  <a:t>Bitlines precharged (</a:t>
                </a:r>
                <a:r>
                  <a:rPr lang="en-IN" sz="1400" b="1" dirty="0"/>
                  <a:t>BL = BLB = VDD</a:t>
                </a:r>
                <a:r>
                  <a:rPr lang="en-IN" sz="1400" dirty="0"/>
                  <a:t>). Wordline activated (</a:t>
                </a:r>
                <a:r>
                  <a:rPr lang="en-IN" sz="1400" b="1" dirty="0"/>
                  <a:t>WL = 1</a:t>
                </a:r>
                <a:r>
                  <a:rPr lang="en-IN" sz="1400" dirty="0"/>
                  <a:t>).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IN" sz="1400" dirty="0"/>
                  <a:t>One bitline discharges depending on stored data.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400" b="1" dirty="0"/>
                  <a:t>Key topic: Subthreshold Leakage</a:t>
                </a:r>
                <a:endParaRPr lang="en-IN" sz="14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𝑇𝐻</m:t>
                        </m:r>
                      </m:sub>
                    </m:sSub>
                  </m:oMath>
                </a14:m>
                <a:r>
                  <a:rPr lang="ar-AE" sz="1400" dirty="0"/>
                  <a:t>, </a:t>
                </a:r>
                <a:r>
                  <a:rPr lang="en-IN" sz="1400" dirty="0"/>
                  <a:t>a small current still flows in MOSFET due to carrier diffusion called </a:t>
                </a:r>
                <a:r>
                  <a:rPr lang="en-IN" sz="1400" b="1" dirty="0"/>
                  <a:t>subthreshold leakage current</a:t>
                </a:r>
                <a:r>
                  <a:rPr lang="en-IN" sz="1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𝑠𝑢𝑏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ar-AE" sz="1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𝑇𝐻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ar-AE" sz="14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This current is In SRAM arrays, it contributes to </a:t>
                </a:r>
                <a:r>
                  <a:rPr lang="en-IN" sz="1400" b="1" dirty="0"/>
                  <a:t>standby power consumption and may affect data stability</a:t>
                </a:r>
                <a:r>
                  <a:rPr lang="en-IN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The </a:t>
                </a:r>
                <a:r>
                  <a:rPr lang="en-IN" sz="1400" b="1" dirty="0"/>
                  <a:t>7T SRAM cell reduces leakage</a:t>
                </a:r>
                <a:r>
                  <a:rPr lang="en-IN" sz="1400" dirty="0"/>
                  <a:t> by introducing an additional transistor in the ground path.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8DE42F-D008-90D8-AEAB-E448B07FC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28" y="1327356"/>
                <a:ext cx="9345562" cy="4441409"/>
              </a:xfrm>
              <a:prstGeom prst="rect">
                <a:avLst/>
              </a:prstGeom>
              <a:blipFill>
                <a:blip r:embed="rId3"/>
                <a:stretch>
                  <a:fillRect l="-196" b="-5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CE7FC-9364-07CE-344F-DAB92AF8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11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2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77A2-9C7D-603F-795E-EB27F017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>
            <a:extLst>
              <a:ext uri="{FF2B5EF4-FFF2-40B4-BE49-F238E27FC236}">
                <a16:creationId xmlns:a16="http://schemas.microsoft.com/office/drawing/2014/main" id="{D3571BC7-11D7-135B-8663-F3B53A176834}"/>
              </a:ext>
            </a:extLst>
          </p:cNvPr>
          <p:cNvSpPr txBox="1">
            <a:spLocks/>
          </p:cNvSpPr>
          <p:nvPr/>
        </p:nvSpPr>
        <p:spPr bwMode="auto">
          <a:xfrm>
            <a:off x="0" y="-229526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2400" b="1" u="sng" dirty="0"/>
              <a:t>Read – Write test analysis observation</a:t>
            </a:r>
            <a:endParaRPr lang="en-US" sz="2400" u="sn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5753FB-7BED-8948-4680-ABB04AA8E9AE}"/>
              </a:ext>
            </a:extLst>
          </p:cNvPr>
          <p:cNvGrpSpPr/>
          <p:nvPr/>
        </p:nvGrpSpPr>
        <p:grpSpPr>
          <a:xfrm>
            <a:off x="196642" y="629265"/>
            <a:ext cx="3942739" cy="5899354"/>
            <a:chOff x="196642" y="501446"/>
            <a:chExt cx="3942739" cy="60271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2D8F7F0-E8AF-BAEA-6780-BC9FCABB1C56}"/>
                </a:ext>
              </a:extLst>
            </p:cNvPr>
            <p:cNvGrpSpPr/>
            <p:nvPr/>
          </p:nvGrpSpPr>
          <p:grpSpPr>
            <a:xfrm>
              <a:off x="196642" y="501446"/>
              <a:ext cx="3942739" cy="6027173"/>
              <a:chOff x="5397909" y="979846"/>
              <a:chExt cx="4237705" cy="488428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B7B2D21-DE57-8C9D-0619-86652F9CCDE9}"/>
                  </a:ext>
                </a:extLst>
              </p:cNvPr>
              <p:cNvGrpSpPr/>
              <p:nvPr/>
            </p:nvGrpSpPr>
            <p:grpSpPr>
              <a:xfrm>
                <a:off x="5397909" y="979846"/>
                <a:ext cx="4237704" cy="4661167"/>
                <a:chOff x="5397909" y="979846"/>
                <a:chExt cx="4237704" cy="4661167"/>
              </a:xfrm>
            </p:grpSpPr>
            <p:pic>
              <p:nvPicPr>
                <p:cNvPr id="6" name="Picture 4">
                  <a:extLst>
                    <a:ext uri="{FF2B5EF4-FFF2-40B4-BE49-F238E27FC236}">
                      <a16:creationId xmlns:a16="http://schemas.microsoft.com/office/drawing/2014/main" id="{C2D74C6E-E85A-8B9D-AA2A-87B68034CE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397909" y="979846"/>
                  <a:ext cx="4237704" cy="2107152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" name="Picture 8">
                  <a:extLst>
                    <a:ext uri="{FF2B5EF4-FFF2-40B4-BE49-F238E27FC236}">
                      <a16:creationId xmlns:a16="http://schemas.microsoft.com/office/drawing/2014/main" id="{911489C3-AF83-A9D2-7D2A-35E4250D02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23" r="7545"/>
                <a:stretch>
                  <a:fillRect/>
                </a:stretch>
              </p:blipFill>
              <p:spPr bwMode="auto">
                <a:xfrm>
                  <a:off x="5397909" y="3556085"/>
                  <a:ext cx="4237704" cy="2084928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" name="Text Box 2">
                <a:extLst>
                  <a:ext uri="{FF2B5EF4-FFF2-40B4-BE49-F238E27FC236}">
                    <a16:creationId xmlns:a16="http://schemas.microsoft.com/office/drawing/2014/main" id="{601E7568-F6B9-7BC9-127A-1D812ABB5A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7910" y="5641013"/>
                <a:ext cx="4237704" cy="223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7.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SRAM cell Write test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95C7B65A-7DE8-0F14-057B-29D1CF453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42" y="3101655"/>
              <a:ext cx="3942738" cy="2654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5.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SRAM cell Read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FAE0CB-C70E-9E76-ACEF-C9B6D06BD0B7}"/>
              </a:ext>
            </a:extLst>
          </p:cNvPr>
          <p:cNvGrpSpPr/>
          <p:nvPr/>
        </p:nvGrpSpPr>
        <p:grpSpPr>
          <a:xfrm>
            <a:off x="4336022" y="629265"/>
            <a:ext cx="5373335" cy="5899354"/>
            <a:chOff x="196642" y="501446"/>
            <a:chExt cx="3942739" cy="602717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75405A2-BEC6-5117-EF36-52EC0F0FF3F1}"/>
                </a:ext>
              </a:extLst>
            </p:cNvPr>
            <p:cNvGrpSpPr/>
            <p:nvPr/>
          </p:nvGrpSpPr>
          <p:grpSpPr>
            <a:xfrm>
              <a:off x="196642" y="501446"/>
              <a:ext cx="3942739" cy="6027173"/>
              <a:chOff x="5397909" y="979846"/>
              <a:chExt cx="4237705" cy="488428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7916156-FCC1-7F94-2274-384A46D593A2}"/>
                  </a:ext>
                </a:extLst>
              </p:cNvPr>
              <p:cNvGrpSpPr/>
              <p:nvPr/>
            </p:nvGrpSpPr>
            <p:grpSpPr>
              <a:xfrm>
                <a:off x="5397909" y="979846"/>
                <a:ext cx="4237704" cy="4661167"/>
                <a:chOff x="5397909" y="979846"/>
                <a:chExt cx="4237704" cy="4661167"/>
              </a:xfrm>
            </p:grpSpPr>
            <p:pic>
              <p:nvPicPr>
                <p:cNvPr id="15" name="Picture 4">
                  <a:extLst>
                    <a:ext uri="{FF2B5EF4-FFF2-40B4-BE49-F238E27FC236}">
                      <a16:creationId xmlns:a16="http://schemas.microsoft.com/office/drawing/2014/main" id="{3F1E0DA9-609C-D000-C2A3-4633BBD518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397909" y="979846"/>
                  <a:ext cx="4237704" cy="2107152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" name="Picture 8">
                  <a:extLst>
                    <a:ext uri="{FF2B5EF4-FFF2-40B4-BE49-F238E27FC236}">
                      <a16:creationId xmlns:a16="http://schemas.microsoft.com/office/drawing/2014/main" id="{D5C23DA1-F0A7-2816-F3F1-4B88CBC0B2B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5" b="640"/>
                <a:stretch>
                  <a:fillRect/>
                </a:stretch>
              </p:blipFill>
              <p:spPr bwMode="auto">
                <a:xfrm>
                  <a:off x="5397909" y="3556085"/>
                  <a:ext cx="4237704" cy="2084928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4" name="Text Box 2">
                <a:extLst>
                  <a:ext uri="{FF2B5EF4-FFF2-40B4-BE49-F238E27FC236}">
                    <a16:creationId xmlns:a16="http://schemas.microsoft.com/office/drawing/2014/main" id="{AADA59C5-216E-95A6-0766-FDBF7D6E21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7910" y="5641013"/>
                <a:ext cx="4237704" cy="223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8.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SRAM cell Write test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A6877855-09F7-0D57-2331-D6EC29A9A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42" y="3101655"/>
              <a:ext cx="3942738" cy="271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SRAM cell Read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4CDD84-0562-03FC-B4DC-E4B21630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12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50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623AC-8820-4BBB-0331-C129E299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F9580874-F852-E56B-8C25-492914472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C7C5E2CA-8811-13CB-7B3B-921F2AA7B460}"/>
              </a:ext>
            </a:extLst>
          </p:cNvPr>
          <p:cNvSpPr txBox="1">
            <a:spLocks/>
          </p:cNvSpPr>
          <p:nvPr/>
        </p:nvSpPr>
        <p:spPr bwMode="auto">
          <a:xfrm>
            <a:off x="265471" y="670387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400" b="1" u="sng" dirty="0"/>
              <a:t>Stability Analysis using Butterfly Curve</a:t>
            </a:r>
            <a:endParaRPr lang="en-IN" sz="24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9B12C-7573-231C-E5B1-A5AD3D7C41A4}"/>
              </a:ext>
            </a:extLst>
          </p:cNvPr>
          <p:cNvSpPr txBox="1"/>
          <p:nvPr/>
        </p:nvSpPr>
        <p:spPr>
          <a:xfrm>
            <a:off x="122904" y="1512120"/>
            <a:ext cx="5402826" cy="439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Stability of SRAM evaluated using </a:t>
            </a:r>
            <a:r>
              <a:rPr lang="en-IN" sz="1400" b="1" dirty="0"/>
              <a:t>Static Noise Margin (SNM)</a:t>
            </a:r>
            <a:r>
              <a:rPr lang="en-IN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Butterfly curve obtained from </a:t>
            </a:r>
            <a:r>
              <a:rPr lang="en-IN" sz="1400" b="1" dirty="0"/>
              <a:t>DC simulation of cross-coupled inverters</a:t>
            </a:r>
            <a:r>
              <a:rPr lang="en-IN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                             </a:t>
            </a:r>
          </a:p>
          <a:p>
            <a:pPr>
              <a:lnSpc>
                <a:spcPct val="150000"/>
              </a:lnSpc>
            </a:pPr>
            <a:endParaRPr lang="en-IN" sz="400" dirty="0"/>
          </a:p>
          <a:p>
            <a:pPr>
              <a:lnSpc>
                <a:spcPct val="150000"/>
              </a:lnSpc>
            </a:pPr>
            <a:r>
              <a:rPr lang="en-IN" sz="1400" dirty="0"/>
              <a:t>(SNM = side of the </a:t>
            </a:r>
            <a:r>
              <a:rPr lang="en-IN" sz="1400" b="1" dirty="0"/>
              <a:t>largest square inside the butterfly curve)</a:t>
            </a:r>
            <a:endParaRPr lang="en-IN" sz="1400" dirty="0"/>
          </a:p>
          <a:p>
            <a:pPr>
              <a:lnSpc>
                <a:spcPct val="150000"/>
              </a:lnSpc>
            </a:pPr>
            <a:r>
              <a:rPr lang="en-IN" sz="1400" b="1" u="sng" dirty="0"/>
              <a:t>Observation</a:t>
            </a:r>
            <a:endParaRPr lang="en-IN" sz="1400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b="1" dirty="0"/>
              <a:t>7T SRAM shows larger SNM compared to 6T SRAM.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Indicates </a:t>
            </a:r>
            <a:r>
              <a:rPr lang="en-IN" sz="1400" b="1" dirty="0"/>
              <a:t>better stability and reduced read disturbance</a:t>
            </a:r>
            <a:r>
              <a:rPr lang="en-IN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1400" b="1" u="sng" dirty="0"/>
              <a:t>Power &amp; Leakage Observation</a:t>
            </a:r>
            <a:endParaRPr lang="en-IN" sz="1400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7T reduces </a:t>
            </a:r>
            <a:r>
              <a:rPr lang="en-IN" sz="1400" b="1" dirty="0"/>
              <a:t>leakage current</a:t>
            </a:r>
            <a:r>
              <a:rPr lang="en-IN" sz="1400" dirty="0"/>
              <a:t> due to controlled ground path.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/>
              <a:t>Shows </a:t>
            </a:r>
            <a:r>
              <a:rPr lang="en-IN" sz="1400" b="1" dirty="0"/>
              <a:t>slightly lower power consumption during read operation</a:t>
            </a:r>
            <a:r>
              <a:rPr lang="en-IN" sz="1400" dirty="0"/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D084CD-8C7D-AEC0-2C50-CF8FD6013362}"/>
              </a:ext>
            </a:extLst>
          </p:cNvPr>
          <p:cNvGrpSpPr/>
          <p:nvPr/>
        </p:nvGrpSpPr>
        <p:grpSpPr>
          <a:xfrm>
            <a:off x="1854610" y="2881465"/>
            <a:ext cx="1939413" cy="321804"/>
            <a:chOff x="1865671" y="2398561"/>
            <a:chExt cx="2244213" cy="371475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9DF2CE9-28B3-7C83-38B7-2F94AB3A8F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5671" y="2398561"/>
              <a:ext cx="2244213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73715B-9341-12C2-2B16-66E03AF9C02D}"/>
                </a:ext>
              </a:extLst>
            </p:cNvPr>
            <p:cNvSpPr/>
            <p:nvPr/>
          </p:nvSpPr>
          <p:spPr>
            <a:xfrm>
              <a:off x="1865671" y="2398561"/>
              <a:ext cx="2244213" cy="3714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864FEDA-5528-DF3B-0D4E-8058ACEE815A}"/>
              </a:ext>
            </a:extLst>
          </p:cNvPr>
          <p:cNvGrpSpPr/>
          <p:nvPr/>
        </p:nvGrpSpPr>
        <p:grpSpPr>
          <a:xfrm>
            <a:off x="5368412" y="1784753"/>
            <a:ext cx="4414684" cy="4025799"/>
            <a:chOff x="6007510" y="1679421"/>
            <a:chExt cx="3775587" cy="40257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B826D8-C7DE-0E28-E43D-20DC8D11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7510" y="1679421"/>
              <a:ext cx="3775587" cy="372581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6" name="Text Box 2">
              <a:extLst>
                <a:ext uri="{FF2B5EF4-FFF2-40B4-BE49-F238E27FC236}">
                  <a16:creationId xmlns:a16="http://schemas.microsoft.com/office/drawing/2014/main" id="{388ED82A-42EB-8212-2FE5-6E3DBBA28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7510" y="5439763"/>
              <a:ext cx="3775587" cy="265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9.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SRAM butterfly curve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EA16CB-8F68-DEF2-F876-4A82FB86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13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86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9945-9155-6295-F03D-03A33847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74ED535-3EA4-D30E-59FE-1E97284A0107}"/>
              </a:ext>
            </a:extLst>
          </p:cNvPr>
          <p:cNvGrpSpPr/>
          <p:nvPr/>
        </p:nvGrpSpPr>
        <p:grpSpPr>
          <a:xfrm>
            <a:off x="162873" y="818865"/>
            <a:ext cx="9580254" cy="3520071"/>
            <a:chOff x="127649" y="88489"/>
            <a:chExt cx="9580254" cy="216805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F4465D5-ABEA-9AEC-6457-915B52045A56}"/>
                </a:ext>
              </a:extLst>
            </p:cNvPr>
            <p:cNvGrpSpPr/>
            <p:nvPr/>
          </p:nvGrpSpPr>
          <p:grpSpPr>
            <a:xfrm>
              <a:off x="127649" y="147484"/>
              <a:ext cx="4754903" cy="2109063"/>
              <a:chOff x="803439" y="211132"/>
              <a:chExt cx="4340368" cy="339404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63ABEFC-C009-2BA7-F0EE-0D9CD809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715" t="6743"/>
              <a:stretch>
                <a:fillRect/>
              </a:stretch>
            </p:blipFill>
            <p:spPr bwMode="auto">
              <a:xfrm>
                <a:off x="882355" y="211132"/>
                <a:ext cx="4261452" cy="29668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946DFBBE-A7C5-37C8-6177-752A14E24D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3439" y="3177988"/>
                <a:ext cx="4223848" cy="4271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10. 6T SRAM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VTC curve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1CE40CA-DC29-30ED-EBC4-D16840FE7945}"/>
                </a:ext>
              </a:extLst>
            </p:cNvPr>
            <p:cNvGrpSpPr/>
            <p:nvPr/>
          </p:nvGrpSpPr>
          <p:grpSpPr>
            <a:xfrm>
              <a:off x="4919285" y="88489"/>
              <a:ext cx="4788618" cy="2155182"/>
              <a:chOff x="1451802" y="211132"/>
              <a:chExt cx="3692005" cy="3374946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EEDF4B7C-0990-01EF-4634-47348EFE05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018" t="5938" b="807"/>
              <a:stretch>
                <a:fillRect/>
              </a:stretch>
            </p:blipFill>
            <p:spPr bwMode="auto">
              <a:xfrm>
                <a:off x="1451802" y="211132"/>
                <a:ext cx="3692005" cy="29592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" name="Text Box 2">
                <a:extLst>
                  <a:ext uri="{FF2B5EF4-FFF2-40B4-BE49-F238E27FC236}">
                    <a16:creationId xmlns:a16="http://schemas.microsoft.com/office/drawing/2014/main" id="{126074E9-48BC-C41C-F6DB-495FC263A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1802" y="3170381"/>
                <a:ext cx="3663685" cy="4156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1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6T SRAM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VTC curve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3273AF-7997-AEFF-9240-40D9B3408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87252"/>
              </p:ext>
            </p:extLst>
          </p:nvPr>
        </p:nvGraphicFramePr>
        <p:xfrm>
          <a:off x="1091381" y="4338936"/>
          <a:ext cx="7983796" cy="1268360"/>
        </p:xfrm>
        <a:graphic>
          <a:graphicData uri="http://schemas.openxmlformats.org/drawingml/2006/table">
            <a:tbl>
              <a:tblPr/>
              <a:tblGrid>
                <a:gridCol w="1995949">
                  <a:extLst>
                    <a:ext uri="{9D8B030D-6E8A-4147-A177-3AD203B41FA5}">
                      <a16:colId xmlns:a16="http://schemas.microsoft.com/office/drawing/2014/main" val="2270044043"/>
                    </a:ext>
                  </a:extLst>
                </a:gridCol>
                <a:gridCol w="1995949">
                  <a:extLst>
                    <a:ext uri="{9D8B030D-6E8A-4147-A177-3AD203B41FA5}">
                      <a16:colId xmlns:a16="http://schemas.microsoft.com/office/drawing/2014/main" val="4291658255"/>
                    </a:ext>
                  </a:extLst>
                </a:gridCol>
                <a:gridCol w="1995949">
                  <a:extLst>
                    <a:ext uri="{9D8B030D-6E8A-4147-A177-3AD203B41FA5}">
                      <a16:colId xmlns:a16="http://schemas.microsoft.com/office/drawing/2014/main" val="1008258475"/>
                    </a:ext>
                  </a:extLst>
                </a:gridCol>
                <a:gridCol w="1995949">
                  <a:extLst>
                    <a:ext uri="{9D8B030D-6E8A-4147-A177-3AD203B41FA5}">
                      <a16:colId xmlns:a16="http://schemas.microsoft.com/office/drawing/2014/main" val="1793672704"/>
                    </a:ext>
                  </a:extLst>
                </a:gridCol>
              </a:tblGrid>
              <a:tr h="481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Supply Voltage (VDD)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Average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Average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024318"/>
                  </a:ext>
                </a:extLst>
              </a:tr>
              <a:tr h="393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6T 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1.8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507.5 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913.5 </a:t>
                      </a:r>
                      <a:r>
                        <a:rPr lang="en-IN" sz="1400" b="1" dirty="0" err="1"/>
                        <a:t>nW</a:t>
                      </a:r>
                      <a:endParaRPr lang="en-IN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816525"/>
                  </a:ext>
                </a:extLst>
              </a:tr>
              <a:tr h="393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7T 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1.8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353.4 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636.12 </a:t>
                      </a:r>
                      <a:r>
                        <a:rPr lang="en-IN" sz="1400" b="1" dirty="0" err="1"/>
                        <a:t>nW</a:t>
                      </a:r>
                      <a:endParaRPr lang="en-IN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16686"/>
                  </a:ext>
                </a:extLst>
              </a:tr>
            </a:tbl>
          </a:graphicData>
        </a:graphic>
      </p:graphicFrame>
      <p:sp>
        <p:nvSpPr>
          <p:cNvPr id="17" name="Text Box 2">
            <a:extLst>
              <a:ext uri="{FF2B5EF4-FFF2-40B4-BE49-F238E27FC236}">
                <a16:creationId xmlns:a16="http://schemas.microsoft.com/office/drawing/2014/main" id="{00EFBF23-D9F4-CD2B-7A74-119548BCB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381" y="5618384"/>
            <a:ext cx="7983796" cy="265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6T vs 7T Average Power comparison (power consumption analysis)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A5B7A3-01AB-995C-96D7-8FE187FF2FBE}"/>
              </a:ext>
            </a:extLst>
          </p:cNvPr>
          <p:cNvSpPr txBox="1"/>
          <p:nvPr/>
        </p:nvSpPr>
        <p:spPr>
          <a:xfrm>
            <a:off x="249326" y="6043428"/>
            <a:ext cx="871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+mn-lt"/>
              </a:rPr>
              <a:t>Conclusion: Power consumption reduced by </a:t>
            </a:r>
            <a:r>
              <a:rPr lang="en-US" b="1" u="sng" dirty="0">
                <a:latin typeface="+mn-lt"/>
              </a:rPr>
              <a:t>30.36%</a:t>
            </a:r>
            <a:r>
              <a:rPr lang="en-US" b="1" dirty="0">
                <a:latin typeface="+mn-lt"/>
              </a:rPr>
              <a:t> in 7T compared to 6T SRAM.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048A07-C2B8-1ACE-5BE3-636F93CB5692}"/>
              </a:ext>
            </a:extLst>
          </p:cNvPr>
          <p:cNvSpPr txBox="1"/>
          <p:nvPr/>
        </p:nvSpPr>
        <p:spPr>
          <a:xfrm>
            <a:off x="0" y="163022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+mn-lt"/>
              </a:rPr>
              <a:t>DC analysis and the VTC curve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0EFBAB-4E13-2B5F-F1D9-C42E16A7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14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149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4070C-D607-88F4-04DF-5344BCE7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D669251-CC32-06C2-998E-BF91EEA7B47C}"/>
              </a:ext>
            </a:extLst>
          </p:cNvPr>
          <p:cNvGrpSpPr/>
          <p:nvPr/>
        </p:nvGrpSpPr>
        <p:grpSpPr>
          <a:xfrm>
            <a:off x="322033" y="721068"/>
            <a:ext cx="9261934" cy="3450687"/>
            <a:chOff x="214101" y="2650784"/>
            <a:chExt cx="9261934" cy="38974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CA529BF-007B-0BC4-7B8F-2BF2DF40F005}"/>
                </a:ext>
              </a:extLst>
            </p:cNvPr>
            <p:cNvGrpSpPr/>
            <p:nvPr/>
          </p:nvGrpSpPr>
          <p:grpSpPr>
            <a:xfrm>
              <a:off x="214101" y="2654710"/>
              <a:ext cx="4577478" cy="3893560"/>
              <a:chOff x="1347025" y="0"/>
              <a:chExt cx="3061991" cy="333421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AA8BB3B-DBCF-8A67-A837-EAC902B16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34" r="1834"/>
              <a:stretch>
                <a:fillRect/>
              </a:stretch>
            </p:blipFill>
            <p:spPr bwMode="auto">
              <a:xfrm>
                <a:off x="1347025" y="0"/>
                <a:ext cx="3037458" cy="303662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0" name="Text Box 2">
                <a:extLst>
                  <a:ext uri="{FF2B5EF4-FFF2-40B4-BE49-F238E27FC236}">
                    <a16:creationId xmlns:a16="http://schemas.microsoft.com/office/drawing/2014/main" id="{F2004C69-5367-6C7D-0AAB-3CA37541BC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1422" y="3106895"/>
                <a:ext cx="2917594" cy="227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12. 6T SRAM butterfly curve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2E7983D-76E7-F7D0-31AC-A3CF21E8BE5E}"/>
                </a:ext>
              </a:extLst>
            </p:cNvPr>
            <p:cNvGrpSpPr/>
            <p:nvPr/>
          </p:nvGrpSpPr>
          <p:grpSpPr>
            <a:xfrm>
              <a:off x="5010200" y="2650784"/>
              <a:ext cx="4465835" cy="3897486"/>
              <a:chOff x="1397935" y="-3362"/>
              <a:chExt cx="2987310" cy="3337579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22B6CAD-BFA2-4464-57FB-70E6615852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76" t="221" b="-218"/>
              <a:stretch>
                <a:fillRect/>
              </a:stretch>
            </p:blipFill>
            <p:spPr bwMode="auto">
              <a:xfrm>
                <a:off x="1397935" y="-3362"/>
                <a:ext cx="2986548" cy="3036624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3" name="Text Box 2">
                <a:extLst>
                  <a:ext uri="{FF2B5EF4-FFF2-40B4-BE49-F238E27FC236}">
                    <a16:creationId xmlns:a16="http://schemas.microsoft.com/office/drawing/2014/main" id="{C8FA2B45-4285-CF3E-E836-8E5BD466D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651" y="3106895"/>
                <a:ext cx="2917594" cy="227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1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6T SRAM butterfly curve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8382BDE-6C26-0E4D-CDBC-3352F103F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39374"/>
              </p:ext>
            </p:extLst>
          </p:nvPr>
        </p:nvGraphicFramePr>
        <p:xfrm>
          <a:off x="1226574" y="4383507"/>
          <a:ext cx="7452852" cy="1342521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25678">
                  <a:extLst>
                    <a:ext uri="{9D8B030D-6E8A-4147-A177-3AD203B41FA5}">
                      <a16:colId xmlns:a16="http://schemas.microsoft.com/office/drawing/2014/main" val="4256136769"/>
                    </a:ext>
                  </a:extLst>
                </a:gridCol>
                <a:gridCol w="1651819">
                  <a:extLst>
                    <a:ext uri="{9D8B030D-6E8A-4147-A177-3AD203B41FA5}">
                      <a16:colId xmlns:a16="http://schemas.microsoft.com/office/drawing/2014/main" val="1644718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3467108918"/>
                    </a:ext>
                  </a:extLst>
                </a:gridCol>
                <a:gridCol w="2576052">
                  <a:extLst>
                    <a:ext uri="{9D8B030D-6E8A-4147-A177-3AD203B41FA5}">
                      <a16:colId xmlns:a16="http://schemas.microsoft.com/office/drawing/2014/main" val="129374302"/>
                    </a:ext>
                  </a:extLst>
                </a:gridCol>
              </a:tblGrid>
              <a:tr h="6390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SNML (mV)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SNMH (mV)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sv-SE" sz="1400" b="1" dirty="0">
                          <a:solidFill>
                            <a:schemeClr val="bg1"/>
                          </a:solidFill>
                        </a:rPr>
                        <a:t>SNM = min(SNML,SNMH) (mV)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738397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6T 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692.53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674.375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674.375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3143"/>
                  </a:ext>
                </a:extLst>
              </a:tr>
              <a:tr h="351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7T 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850.282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849.692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849.692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509257"/>
                  </a:ext>
                </a:extLst>
              </a:tr>
            </a:tbl>
          </a:graphicData>
        </a:graphic>
      </p:graphicFrame>
      <p:sp>
        <p:nvSpPr>
          <p:cNvPr id="17" name="Text Box 2">
            <a:extLst>
              <a:ext uri="{FF2B5EF4-FFF2-40B4-BE49-F238E27FC236}">
                <a16:creationId xmlns:a16="http://schemas.microsoft.com/office/drawing/2014/main" id="{52834F95-1A11-68EA-ECD0-5FB7E1FDA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574" y="5726027"/>
            <a:ext cx="7452852" cy="265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2. 6T vs 7T SNM comparison (stability analysis)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09DCD9-8A06-57B4-5167-19A952DC439F}"/>
              </a:ext>
            </a:extLst>
          </p:cNvPr>
          <p:cNvSpPr txBox="1"/>
          <p:nvPr/>
        </p:nvSpPr>
        <p:spPr>
          <a:xfrm>
            <a:off x="184382" y="6149532"/>
            <a:ext cx="871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+mn-lt"/>
              </a:rPr>
              <a:t>Conclusion: SNM improved </a:t>
            </a:r>
            <a:r>
              <a:rPr lang="en-US" b="1" dirty="0"/>
              <a:t>increased by </a:t>
            </a:r>
            <a:r>
              <a:rPr lang="en-US" b="1" u="sng" dirty="0">
                <a:latin typeface="+mn-lt"/>
              </a:rPr>
              <a:t>25.98%</a:t>
            </a:r>
            <a:r>
              <a:rPr lang="en-US" b="1" dirty="0">
                <a:latin typeface="+mn-lt"/>
              </a:rPr>
              <a:t> in 7T compared to 6T SRAM. </a:t>
            </a:r>
            <a:endParaRPr lang="en-IN" b="1" dirty="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900AAB-3CA2-851A-E3A0-648F6E49BDBB}"/>
              </a:ext>
            </a:extLst>
          </p:cNvPr>
          <p:cNvSpPr txBox="1"/>
          <p:nvPr/>
        </p:nvSpPr>
        <p:spPr>
          <a:xfrm>
            <a:off x="0" y="163022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+mn-lt"/>
              </a:rPr>
              <a:t>DC analysis and the Butterfly curve for Stability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4B56B-9FCF-A662-D36A-1328B90F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15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473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5201-1F18-1138-4F76-AEA772AB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1E100DB3-C5CC-E0E2-835C-A040AF27B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8" y="0"/>
            <a:ext cx="10220018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08CAD1-3292-D00F-8FCA-ADDED587A18C}"/>
              </a:ext>
            </a:extLst>
          </p:cNvPr>
          <p:cNvSpPr txBox="1">
            <a:spLocks/>
          </p:cNvSpPr>
          <p:nvPr/>
        </p:nvSpPr>
        <p:spPr bwMode="auto">
          <a:xfrm>
            <a:off x="0" y="699882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2800" b="1" u="sng" dirty="0"/>
              <a:t>6T vs 7T Observed Comparison</a:t>
            </a:r>
            <a:endParaRPr lang="en-US" sz="2800" u="sn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18132A-B1D5-1618-3EFD-1FECFC85E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535302"/>
              </p:ext>
            </p:extLst>
          </p:nvPr>
        </p:nvGraphicFramePr>
        <p:xfrm>
          <a:off x="251952" y="1602657"/>
          <a:ext cx="9402096" cy="4303355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365589375"/>
                    </a:ext>
                  </a:extLst>
                </a:gridCol>
                <a:gridCol w="3647767">
                  <a:extLst>
                    <a:ext uri="{9D8B030D-6E8A-4147-A177-3AD203B41FA5}">
                      <a16:colId xmlns:a16="http://schemas.microsoft.com/office/drawing/2014/main" val="3492976047"/>
                    </a:ext>
                  </a:extLst>
                </a:gridCol>
                <a:gridCol w="3696929">
                  <a:extLst>
                    <a:ext uri="{9D8B030D-6E8A-4147-A177-3AD203B41FA5}">
                      <a16:colId xmlns:a16="http://schemas.microsoft.com/office/drawing/2014/main" val="3477735706"/>
                    </a:ext>
                  </a:extLst>
                </a:gridCol>
              </a:tblGrid>
              <a:tr h="420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6T SRAM Cell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</a:rPr>
                        <a:t>Proposed 7T SRAM Cell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53335"/>
                  </a:ext>
                </a:extLst>
              </a:tr>
              <a:tr h="3705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Number of Transistors</a:t>
                      </a:r>
                      <a:endParaRPr lang="en-IN" sz="140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6 transistors per cell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7 transistors per cell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384677"/>
                  </a:ext>
                </a:extLst>
              </a:tr>
              <a:tr h="5952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Cell Structure</a:t>
                      </a:r>
                      <a:endParaRPr lang="en-IN" sz="1400" dirty="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Two cross-coupled inverters with two access transistors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Similar to 6T with an </a:t>
                      </a:r>
                      <a:r>
                        <a:rPr lang="en-US" sz="1400" b="1" dirty="0"/>
                        <a:t>additional bottom NMOS transistor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841950"/>
                  </a:ext>
                </a:extLst>
              </a:tr>
              <a:tr h="3398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Static Noise Margin (SNM)</a:t>
                      </a:r>
                      <a:endParaRPr lang="en-IN" sz="1400" dirty="0"/>
                    </a:p>
                    <a:p>
                      <a:pPr algn="ctr">
                        <a:buNone/>
                      </a:pPr>
                      <a:endParaRPr lang="en-IN" sz="1400" dirty="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Lower SNM </a:t>
                      </a:r>
                      <a:r>
                        <a:rPr lang="en-US" sz="1400" dirty="0"/>
                        <a:t>because of read disturbance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Higher SNM </a:t>
                      </a:r>
                      <a:r>
                        <a:rPr lang="en-US" sz="1400" dirty="0"/>
                        <a:t>due to reduced disturbance at storage node </a:t>
                      </a:r>
                      <a:r>
                        <a:rPr lang="en-US" sz="1400" b="1" dirty="0"/>
                        <a:t>(around 26% higher than 6T)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409853"/>
                  </a:ext>
                </a:extLst>
              </a:tr>
              <a:tr h="6309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Stability</a:t>
                      </a:r>
                      <a:endParaRPr lang="en-IN" sz="1000" dirty="0">
                        <a:effectLst/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stability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during read operation due to direct bitline interaction. And 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 SNM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000" dirty="0">
                        <a:effectLst/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stability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to controlled ground path. And 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SNM compared to 6T</a:t>
                      </a:r>
                      <a:endParaRPr lang="en-IN" sz="1000" b="1" dirty="0">
                        <a:effectLst/>
                      </a:endParaRP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404464"/>
                  </a:ext>
                </a:extLst>
              </a:tr>
              <a:tr h="5486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Power Consumption</a:t>
                      </a:r>
                      <a:endParaRPr lang="en-IN" sz="1400" dirty="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Higher power consumption </a:t>
                      </a:r>
                      <a:r>
                        <a:rPr lang="en-US" sz="1400" dirty="0"/>
                        <a:t>during read operations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Lower power </a:t>
                      </a:r>
                      <a:r>
                        <a:rPr lang="en-US" sz="1400" dirty="0"/>
                        <a:t>due to controlled discharge path</a:t>
                      </a:r>
                    </a:p>
                    <a:p>
                      <a:pPr algn="ctr">
                        <a:buNone/>
                      </a:pPr>
                      <a:r>
                        <a:rPr lang="en-US" sz="1400" b="1" dirty="0"/>
                        <a:t>(around 30.36% lesser than 6T)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1392"/>
                  </a:ext>
                </a:extLst>
              </a:tr>
              <a:tr h="5801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Leakage Power</a:t>
                      </a:r>
                      <a:endParaRPr lang="en-IN" sz="140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Higher leakage </a:t>
                      </a:r>
                      <a:r>
                        <a:rPr lang="en-US" sz="1400" dirty="0"/>
                        <a:t>current in idle state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Reduced leakage due to additional transistor in ground path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399447"/>
                  </a:ext>
                </a:extLst>
              </a:tr>
              <a:tr h="4606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Area Utilization</a:t>
                      </a:r>
                      <a:endParaRPr lang="en-IN" sz="1400"/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Smaller</a:t>
                      </a:r>
                      <a:r>
                        <a:rPr lang="en-IN" sz="1400" dirty="0"/>
                        <a:t> silicon area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Slightly larger area due to extra transistor</a:t>
                      </a:r>
                    </a:p>
                  </a:txBody>
                  <a:tcPr marL="56575" marR="56575" marT="28287" marB="28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967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CFFC5A-0AE8-25DE-7020-71F0CEBC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16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485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0C00-320F-FB02-D72B-C8DBADA2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B8685C91-8FA6-E849-498C-CCC1328B7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0102" y="-117986"/>
            <a:ext cx="10505152" cy="72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09FC53B-D0A8-86BC-5304-4AFD0BC6B1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0706" y="1425910"/>
                <a:ext cx="6255294" cy="2314730"/>
              </a:xfrm>
            </p:spPr>
            <p:txBody>
              <a:bodyPr rtlCol="0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Converts </a:t>
                </a:r>
                <a:r>
                  <a:rPr lang="en-IN" sz="1400" b="1" dirty="0"/>
                  <a:t>4-bit address input into 16 </a:t>
                </a:r>
                <a:r>
                  <a:rPr lang="en-IN" sz="1400" b="1" dirty="0" err="1"/>
                  <a:t>wordlines</a:t>
                </a:r>
                <a:r>
                  <a:rPr lang="en-US" sz="1400" dirty="0"/>
                  <a:t>(n </a:t>
                </a:r>
                <a14:m>
                  <m:oMath xmlns:m="http://schemas.openxmlformats.org/officeDocument/2006/math">
                    <m:r>
                      <a:rPr lang="ar-AE" sz="140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nor/>
                      </m:rPr>
                      <a:rPr lang="ar-AE" sz="1400" i="1"/>
                      <m:t> </m:t>
                    </m:r>
                    <m:r>
                      <m:rPr>
                        <m:nor/>
                      </m:rPr>
                      <a:rPr lang="en-IN" sz="1400" i="1"/>
                      <m:t>outputs</m:t>
                    </m:r>
                    <m:r>
                      <m:rPr>
                        <m:nor/>
                      </m:rPr>
                      <a:rPr lang="en-US" sz="1400" b="0" i="1" smtClean="0"/>
                      <m:t>)</m:t>
                    </m:r>
                  </m:oMath>
                </a14:m>
                <a:endParaRPr lang="en-IN" sz="1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For this design: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sz="140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ar-AE" sz="1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Implemented using </a:t>
                </a:r>
                <a:r>
                  <a:rPr lang="en-IN" sz="1400" b="1" dirty="0"/>
                  <a:t>input inverters and 4-input AND gates</a:t>
                </a:r>
                <a:r>
                  <a:rPr lang="en-IN" sz="1400" dirty="0"/>
                  <a:t>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Each AND gate corresponds to </a:t>
                </a:r>
                <a:r>
                  <a:rPr lang="en-IN" sz="1400" b="1" dirty="0"/>
                  <a:t>one address combination</a:t>
                </a:r>
                <a:r>
                  <a:rPr lang="en-IN" sz="1400" dirty="0"/>
                  <a:t> and activates the respective </a:t>
                </a:r>
                <a:r>
                  <a:rPr lang="en-IN" sz="1400" b="1" dirty="0"/>
                  <a:t>wordline (WL)</a:t>
                </a:r>
                <a:r>
                  <a:rPr lang="en-IN" sz="1400" dirty="0"/>
                  <a:t>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Ensures </a:t>
                </a:r>
                <a:r>
                  <a:rPr lang="en-IN" sz="1400" b="1" dirty="0"/>
                  <a:t>only one row of SRAM cells is selected</a:t>
                </a:r>
                <a:r>
                  <a:rPr lang="en-IN" sz="1400" dirty="0"/>
                  <a:t> during read or write operation.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09FC53B-D0A8-86BC-5304-4AFD0BC6B1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0706" y="1425910"/>
                <a:ext cx="6255294" cy="2314730"/>
              </a:xfrm>
              <a:blipFill>
                <a:blip r:embed="rId3"/>
                <a:stretch>
                  <a:fillRect l="-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FE2FC6D2-0988-0E77-9950-084F1B8E44EC}"/>
              </a:ext>
            </a:extLst>
          </p:cNvPr>
          <p:cNvSpPr txBox="1">
            <a:spLocks/>
          </p:cNvSpPr>
          <p:nvPr/>
        </p:nvSpPr>
        <p:spPr>
          <a:xfrm>
            <a:off x="3825496" y="598514"/>
            <a:ext cx="5216627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IN" sz="2800" b="1" u="sng" dirty="0"/>
              <a:t>4×16 Row Decoder</a:t>
            </a:r>
            <a:endParaRPr lang="en-IN" sz="2800" u="sn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3DA8C01-5D1C-9B40-03B2-236787970EBF}"/>
              </a:ext>
            </a:extLst>
          </p:cNvPr>
          <p:cNvGrpSpPr/>
          <p:nvPr/>
        </p:nvGrpSpPr>
        <p:grpSpPr>
          <a:xfrm>
            <a:off x="30899" y="882004"/>
            <a:ext cx="3872507" cy="5371312"/>
            <a:chOff x="1862361" y="-581969"/>
            <a:chExt cx="2299199" cy="411598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1A65BC-F39A-1A34-919B-6837ED894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89772" y="-581969"/>
              <a:ext cx="1986462" cy="390657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1D5698DF-74C7-A187-AC74-93873D3BD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2361" y="3324601"/>
              <a:ext cx="2299199" cy="209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1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4x16 Row decoder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C898A4F-1BC3-820D-156B-94CB4A33D82D}"/>
              </a:ext>
            </a:extLst>
          </p:cNvPr>
          <p:cNvGrpSpPr/>
          <p:nvPr/>
        </p:nvGrpSpPr>
        <p:grpSpPr>
          <a:xfrm>
            <a:off x="3765842" y="3834580"/>
            <a:ext cx="6025022" cy="2418735"/>
            <a:chOff x="-1581313" y="-715482"/>
            <a:chExt cx="9135209" cy="27097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A6ADA3-49DC-E6CB-9BF4-21FA9B610C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" b="-2811"/>
            <a:stretch>
              <a:fillRect/>
            </a:stretch>
          </p:blipFill>
          <p:spPr bwMode="auto">
            <a:xfrm>
              <a:off x="-1581313" y="-715482"/>
              <a:ext cx="9135209" cy="252962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D09E90BA-1440-E9F3-B841-C9E1EA8D6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170" y="1741734"/>
              <a:ext cx="4838699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16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Row decoder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7EC35A-B018-6051-C4A0-141B9501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17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025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88D6A-2D82-F6F1-042E-62767D40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CF9C3851-31E4-2343-F817-3C4E2DE7A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3961" y="-108154"/>
            <a:ext cx="10259961" cy="716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F1E6C54-50F8-B412-FCBB-9F6E8664E4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233" y="1512782"/>
                <a:ext cx="4547420" cy="1504336"/>
              </a:xfrm>
            </p:spPr>
            <p:txBody>
              <a:bodyPr rtlCol="0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1400" dirty="0"/>
                  <a:t>The </a:t>
                </a:r>
                <a:r>
                  <a:rPr lang="en-IN" sz="1400" b="1" dirty="0"/>
                  <a:t>precharge circuit prepares the bitlines (BL and BLB)</a:t>
                </a:r>
                <a:r>
                  <a:rPr lang="en-IN" sz="1400" dirty="0"/>
                  <a:t> before every read operation. During precharge phase, both bitlines are charged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:r>
                  <a:rPr lang="en-IN" sz="1400" dirty="0"/>
                  <a:t>using </a:t>
                </a:r>
                <a:r>
                  <a:rPr lang="en-IN" sz="1400" b="1" dirty="0"/>
                  <a:t>PMOS transistors</a:t>
                </a:r>
                <a:r>
                  <a:rPr lang="en-IN" sz="1400" dirty="0"/>
                  <a:t>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AF1E6C54-50F8-B412-FCBB-9F6E8664E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233" y="1512782"/>
                <a:ext cx="4547420" cy="1504336"/>
              </a:xfrm>
              <a:blipFill>
                <a:blip r:embed="rId3"/>
                <a:stretch>
                  <a:fillRect l="-4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A59F4B6A-DD0F-4271-FA0C-E1BC85A5FF9B}"/>
              </a:ext>
            </a:extLst>
          </p:cNvPr>
          <p:cNvSpPr txBox="1">
            <a:spLocks/>
          </p:cNvSpPr>
          <p:nvPr/>
        </p:nvSpPr>
        <p:spPr>
          <a:xfrm>
            <a:off x="4916" y="708609"/>
            <a:ext cx="5216627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IN" sz="2600" b="1" u="sng" dirty="0"/>
              <a:t>Precharge Cell</a:t>
            </a:r>
            <a:endParaRPr lang="en-IN" sz="26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D2850-FE1A-3207-6624-55EBB5C6CFB4}"/>
              </a:ext>
            </a:extLst>
          </p:cNvPr>
          <p:cNvSpPr txBox="1"/>
          <p:nvPr/>
        </p:nvSpPr>
        <p:spPr>
          <a:xfrm>
            <a:off x="162232" y="2571488"/>
            <a:ext cx="45474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>
                <a:latin typeface="+mn-lt"/>
              </a:rPr>
              <a:t>Operating Principle</a:t>
            </a:r>
            <a:endParaRPr lang="en-IN" u="sng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+mn-lt"/>
              </a:rPr>
              <a:t>When </a:t>
            </a:r>
            <a:r>
              <a:rPr lang="en-IN" sz="1400" b="1" dirty="0">
                <a:latin typeface="+mn-lt"/>
              </a:rPr>
              <a:t>Precharge Enable = 0, </a:t>
            </a:r>
            <a:r>
              <a:rPr lang="en-IN" sz="1400" dirty="0">
                <a:latin typeface="+mn-lt"/>
              </a:rPr>
              <a:t>PMOS transistors turn </a:t>
            </a:r>
            <a:r>
              <a:rPr lang="en-IN" sz="1400" b="1" dirty="0">
                <a:latin typeface="+mn-lt"/>
              </a:rPr>
              <a:t>ON </a:t>
            </a:r>
            <a:r>
              <a:rPr lang="en-IN" sz="1400" dirty="0">
                <a:latin typeface="+mn-lt"/>
              </a:rPr>
              <a:t>and</a:t>
            </a:r>
            <a:r>
              <a:rPr lang="en-IN" sz="1400" b="1" dirty="0">
                <a:latin typeface="+mn-lt"/>
              </a:rPr>
              <a:t> </a:t>
            </a:r>
            <a:r>
              <a:rPr lang="en-IN" sz="1400" dirty="0">
                <a:latin typeface="+mn-lt"/>
              </a:rPr>
              <a:t>BL and BLB charge to </a:t>
            </a:r>
            <a:r>
              <a:rPr lang="en-IN" sz="1400" b="1" dirty="0">
                <a:latin typeface="+mn-lt"/>
              </a:rPr>
              <a:t>VDD.</a:t>
            </a:r>
            <a:endParaRPr lang="en-IN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+mn-lt"/>
              </a:rPr>
              <a:t>When </a:t>
            </a:r>
            <a:r>
              <a:rPr lang="en-IN" sz="1400" b="1" dirty="0">
                <a:latin typeface="+mn-lt"/>
              </a:rPr>
              <a:t>Precharge Enable = 1, </a:t>
            </a:r>
            <a:r>
              <a:rPr lang="en-IN" sz="1400" dirty="0">
                <a:latin typeface="+mn-lt"/>
              </a:rPr>
              <a:t>PMOS transistors turn </a:t>
            </a:r>
            <a:r>
              <a:rPr lang="en-IN" sz="1400" b="1" dirty="0">
                <a:latin typeface="+mn-lt"/>
              </a:rPr>
              <a:t>OFF </a:t>
            </a:r>
            <a:r>
              <a:rPr lang="en-IN" sz="1400" dirty="0">
                <a:latin typeface="+mn-lt"/>
              </a:rPr>
              <a:t>and</a:t>
            </a:r>
            <a:r>
              <a:rPr lang="en-IN" sz="1400" b="1" dirty="0">
                <a:latin typeface="+mn-lt"/>
              </a:rPr>
              <a:t> </a:t>
            </a:r>
            <a:r>
              <a:rPr lang="en-IN" sz="1400" dirty="0">
                <a:latin typeface="+mn-lt"/>
              </a:rPr>
              <a:t>Bitlines become </a:t>
            </a:r>
            <a:r>
              <a:rPr lang="en-IN" sz="1400" b="1" dirty="0">
                <a:latin typeface="+mn-lt"/>
              </a:rPr>
              <a:t>floating for read operation.</a:t>
            </a:r>
            <a:endParaRPr lang="en-IN" sz="1400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>
                <a:latin typeface="+mn-lt"/>
              </a:rPr>
              <a:t>Purpose in SRAM</a:t>
            </a:r>
            <a:endParaRPr lang="en-IN" u="sng" dirty="0"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+mn-lt"/>
              </a:rPr>
              <a:t>Ensures </a:t>
            </a:r>
            <a:r>
              <a:rPr lang="en-IN" sz="1400" b="1" dirty="0">
                <a:latin typeface="+mn-lt"/>
              </a:rPr>
              <a:t>both bitlines start from the same voltage level</a:t>
            </a:r>
            <a:r>
              <a:rPr lang="en-IN" sz="1400" dirty="0"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+mn-lt"/>
              </a:rPr>
              <a:t>Allows the </a:t>
            </a:r>
            <a:r>
              <a:rPr lang="en-IN" sz="1400" b="1" dirty="0">
                <a:latin typeface="+mn-lt"/>
              </a:rPr>
              <a:t>sense amplifier to detect small voltage differences</a:t>
            </a:r>
            <a:r>
              <a:rPr lang="en-IN" sz="1400" dirty="0">
                <a:latin typeface="+mn-lt"/>
              </a:rPr>
              <a:t> during read operation.</a:t>
            </a:r>
          </a:p>
          <a:p>
            <a:endParaRPr lang="en-IN" sz="1500" dirty="0"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D074E8-4119-D82F-ADC7-C01D42032C1B}"/>
              </a:ext>
            </a:extLst>
          </p:cNvPr>
          <p:cNvGrpSpPr/>
          <p:nvPr/>
        </p:nvGrpSpPr>
        <p:grpSpPr>
          <a:xfrm>
            <a:off x="4953000" y="879989"/>
            <a:ext cx="4642209" cy="3000782"/>
            <a:chOff x="0" y="-675320"/>
            <a:chExt cx="5954485" cy="42800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C8DA75-683F-4E3A-804E-053C9A51E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" y="-675320"/>
              <a:ext cx="5954483" cy="375018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8F091ED5-530B-CED9-9EDF-03FFB90E9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77989"/>
              <a:ext cx="5731509" cy="4267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16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Precharge cell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9F48B87-30D4-5162-FD45-B0E8B7531392}"/>
              </a:ext>
            </a:extLst>
          </p:cNvPr>
          <p:cNvGrpSpPr/>
          <p:nvPr/>
        </p:nvGrpSpPr>
        <p:grpSpPr>
          <a:xfrm>
            <a:off x="4953000" y="4041058"/>
            <a:ext cx="4642209" cy="2210608"/>
            <a:chOff x="-1581313" y="-715481"/>
            <a:chExt cx="9135209" cy="28679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B4AD5FA-88E8-BF43-AC54-C6BA105D5A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8" r="289"/>
            <a:stretch>
              <a:fillRect/>
            </a:stretch>
          </p:blipFill>
          <p:spPr bwMode="auto">
            <a:xfrm>
              <a:off x="-1581313" y="-715481"/>
              <a:ext cx="9135209" cy="256872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4D7F6083-3828-5314-6CB0-DAB8D3FC0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17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Precharge circuit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4B37DB-81B0-8CD3-A7FD-F7838473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18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462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59A2E-BBCA-F7FA-E264-DF87DDEA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A00F3E55-A6FF-D3B9-0666-A99EC09F1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935" y="0"/>
            <a:ext cx="10514985" cy="703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96E6787-1784-3CF1-9687-971A7A90FF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5245" y="1399014"/>
                <a:ext cx="4419581" cy="4407155"/>
              </a:xfrm>
            </p:spPr>
            <p:txBody>
              <a:bodyPr rtlCol="0"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dirty="0"/>
                  <a:t>Forces the </a:t>
                </a:r>
                <a:r>
                  <a:rPr lang="en-IN" sz="1400" b="1" dirty="0"/>
                  <a:t>input data onto bitlines (BL and BLB)</a:t>
                </a:r>
                <a:r>
                  <a:rPr lang="en-IN" sz="1400" dirty="0"/>
                  <a:t> during write operation. Implemented using: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b="1" dirty="0"/>
                  <a:t>Two CMOS inverters</a:t>
                </a:r>
                <a:r>
                  <a:rPr lang="en-IN" sz="1400" dirty="0"/>
                  <a:t> (for inversion and buffering)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b="1" dirty="0"/>
                  <a:t>Transmission gates</a:t>
                </a:r>
                <a:r>
                  <a:rPr lang="en-IN" sz="1400" dirty="0"/>
                  <a:t> controlled by </a:t>
                </a:r>
                <a:r>
                  <a:rPr lang="en-IN" sz="1400" b="1" dirty="0"/>
                  <a:t>Write Enable (WE)</a:t>
                </a:r>
                <a:r>
                  <a:rPr lang="en-IN" sz="1400" dirty="0"/>
                  <a:t>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>
                          <a:latin typeface="Cambria Math" panose="02040503050406030204" pitchFamily="18" charset="0"/>
                        </a:rPr>
                        <m:t>𝑩𝑳</m:t>
                      </m:r>
                      <m:r>
                        <a:rPr lang="en-IN" sz="1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1" i="1">
                          <a:latin typeface="Cambria Math" panose="02040503050406030204" pitchFamily="18" charset="0"/>
                        </a:rPr>
                        <m:t>𝑫𝒂𝒕𝒂</m:t>
                      </m:r>
                      <m:r>
                        <a:rPr lang="en-US" sz="1400" b="1" i="0" smtClean="0"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a:rPr lang="en-IN" sz="1400" b="1" i="1">
                          <a:latin typeface="Cambria Math" panose="02040503050406030204" pitchFamily="18" charset="0"/>
                        </a:rPr>
                        <m:t>𝑩𝑳𝑩</m:t>
                      </m:r>
                      <m:r>
                        <a:rPr lang="en-IN" sz="1400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𝑫𝒂𝒕𝒂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𝒃𝒂𝒓</m:t>
                      </m:r>
                    </m:oMath>
                  </m:oMathPara>
                </a14:m>
                <a:endParaRPr lang="en-US" sz="1400" b="1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400" b="1" dirty="0"/>
                  <a:t>Operating Principle</a:t>
                </a:r>
                <a:endParaRPr lang="en-US" sz="1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When </a:t>
                </a:r>
                <a:r>
                  <a:rPr lang="en-US" sz="1400" b="1" dirty="0"/>
                  <a:t>WE = 1, </a:t>
                </a:r>
                <a:r>
                  <a:rPr lang="en-US" sz="1400" dirty="0"/>
                  <a:t>Transmission gates turn </a:t>
                </a:r>
                <a:r>
                  <a:rPr lang="en-US" sz="1400" b="1" dirty="0"/>
                  <a:t>ON, 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400" b="1" dirty="0"/>
                  <a:t>         </a:t>
                </a:r>
                <a:r>
                  <a:rPr lang="en-US" sz="1400" dirty="0"/>
                  <a:t>Data is driven strongly onto </a:t>
                </a:r>
                <a:r>
                  <a:rPr lang="en-US" sz="1400" b="1" dirty="0"/>
                  <a:t>BL and BLB</a:t>
                </a:r>
                <a:r>
                  <a:rPr lang="en-US" sz="1400" dirty="0"/>
                  <a:t>.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When </a:t>
                </a:r>
                <a:r>
                  <a:rPr lang="en-US" sz="1400" b="1" dirty="0"/>
                  <a:t>WE = 0, </a:t>
                </a:r>
                <a:r>
                  <a:rPr lang="en-US" sz="1400" dirty="0"/>
                  <a:t>Transmission gates turn </a:t>
                </a:r>
                <a:r>
                  <a:rPr lang="en-US" sz="1400" b="1" dirty="0"/>
                  <a:t>OFF, 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400" dirty="0"/>
                  <a:t>         Bitlines are isolated from the driver.</a:t>
                </a:r>
                <a:endParaRPr lang="en-US" sz="14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6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dirty="0"/>
                  <a:t>It strongly drives bitlines to </a:t>
                </a:r>
                <a:r>
                  <a:rPr lang="en-IN" sz="1400" b="1" dirty="0"/>
                  <a:t>overwrite the stored value in the SRAM cell</a:t>
                </a:r>
                <a:r>
                  <a:rPr lang="en-IN" sz="1400" dirty="0"/>
                  <a:t>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796E6787-1784-3CF1-9687-971A7A90F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245" y="1399014"/>
                <a:ext cx="4419581" cy="4407155"/>
              </a:xfrm>
              <a:blipFill>
                <a:blip r:embed="rId3"/>
                <a:stretch>
                  <a:fillRect l="-138" b="-1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3A3C70F1-C237-9309-EADB-AF98DB456B59}"/>
              </a:ext>
            </a:extLst>
          </p:cNvPr>
          <p:cNvSpPr txBox="1">
            <a:spLocks/>
          </p:cNvSpPr>
          <p:nvPr/>
        </p:nvSpPr>
        <p:spPr>
          <a:xfrm>
            <a:off x="134172" y="636384"/>
            <a:ext cx="5216627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IN" sz="2600" b="1" u="sng" dirty="0"/>
              <a:t>Write Driver Circuit</a:t>
            </a:r>
            <a:endParaRPr lang="en-IN" sz="2600" u="sn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23618C-6F90-264D-B7CF-7E4786E538E4}"/>
              </a:ext>
            </a:extLst>
          </p:cNvPr>
          <p:cNvGrpSpPr/>
          <p:nvPr/>
        </p:nvGrpSpPr>
        <p:grpSpPr>
          <a:xfrm>
            <a:off x="4598017" y="946730"/>
            <a:ext cx="5216627" cy="3064831"/>
            <a:chOff x="163272" y="102847"/>
            <a:chExt cx="5501756" cy="29107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1CCCF9-1D6E-A635-9F7F-76F84839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1" r="3191"/>
            <a:stretch/>
          </p:blipFill>
          <p:spPr bwMode="auto">
            <a:xfrm>
              <a:off x="163735" y="102847"/>
              <a:ext cx="5501293" cy="268061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61C3F4A2-65B3-A495-6643-CB30C99F2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72" y="2783459"/>
              <a:ext cx="5501756" cy="230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18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Write driver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9777644-D1EC-6298-3C52-A960B613EA8F}"/>
              </a:ext>
            </a:extLst>
          </p:cNvPr>
          <p:cNvGrpSpPr/>
          <p:nvPr/>
        </p:nvGrpSpPr>
        <p:grpSpPr>
          <a:xfrm>
            <a:off x="4598017" y="4126525"/>
            <a:ext cx="5195989" cy="1970957"/>
            <a:chOff x="-1581313" y="-715481"/>
            <a:chExt cx="9135209" cy="28679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8ECE81-3506-BA20-F357-25AE5664EB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65" r="-97"/>
            <a:stretch>
              <a:fillRect/>
            </a:stretch>
          </p:blipFill>
          <p:spPr bwMode="auto">
            <a:xfrm>
              <a:off x="-1581313" y="-715481"/>
              <a:ext cx="9135209" cy="256872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72BB6F81-373B-82CC-F073-25DE670C5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19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Write driver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4F626-4272-D2B3-201A-FEB7DBF2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19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048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7E36-8664-DA45-9894-F57FF181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08EC8D87-016F-D570-B8C8-6EE06F992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3290" y="-137652"/>
            <a:ext cx="10318340" cy="721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37F742-09C1-A35D-92EB-A56B95E67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" y="1448174"/>
            <a:ext cx="4650659" cy="4407155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Used to </a:t>
            </a:r>
            <a:r>
              <a:rPr lang="en-US" sz="1400" b="1" dirty="0"/>
              <a:t>detect small voltage difference between BL and BLB</a:t>
            </a:r>
            <a:r>
              <a:rPr lang="en-US" sz="1400" dirty="0"/>
              <a:t> during read operation.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Implemented as a </a:t>
            </a:r>
            <a:r>
              <a:rPr lang="en-US" sz="1400" b="1" dirty="0"/>
              <a:t>differential amplifier</a:t>
            </a:r>
            <a:r>
              <a:rPr lang="en-US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dirty="0"/>
              <a:t>Operation</a:t>
            </a:r>
            <a:r>
              <a:rPr lang="en-US" sz="1400" b="1" dirty="0"/>
              <a:t>:</a:t>
            </a:r>
            <a:endParaRPr lang="en-US" sz="1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Bitlines initially </a:t>
            </a:r>
            <a:r>
              <a:rPr lang="en-US" sz="1400" b="1" dirty="0"/>
              <a:t>precharged to VDD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During read, one bitline </a:t>
            </a:r>
            <a:r>
              <a:rPr lang="en-US" sz="1400" b="1" dirty="0"/>
              <a:t>discharges slightly</a:t>
            </a:r>
            <a:r>
              <a:rPr lang="en-US" sz="1400" dirty="0"/>
              <a:t> depending on stored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Sense Amplifier Enable (SAE)</a:t>
            </a:r>
            <a:r>
              <a:rPr lang="en-US" sz="1400" dirty="0"/>
              <a:t> activates the circuit.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The small voltage difference is </a:t>
            </a:r>
            <a:r>
              <a:rPr lang="en-US" sz="1400" b="1" dirty="0"/>
              <a:t>amplified into full logic output</a:t>
            </a:r>
            <a:r>
              <a:rPr lang="en-US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u="sng" dirty="0"/>
              <a:t>Purpose</a:t>
            </a:r>
            <a:r>
              <a:rPr lang="en-US" sz="1400" b="1" dirty="0"/>
              <a:t>: </a:t>
            </a:r>
            <a:r>
              <a:rPr lang="en-US" sz="1400" dirty="0"/>
              <a:t>Enables </a:t>
            </a:r>
            <a:r>
              <a:rPr lang="en-US" sz="1400" b="1" dirty="0"/>
              <a:t>fast and reliable read operation</a:t>
            </a:r>
            <a:r>
              <a:rPr lang="en-US" sz="1400" dirty="0"/>
              <a:t> in SRAM.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235F5E-5D8E-C844-468A-9DB7F49E2E6C}"/>
              </a:ext>
            </a:extLst>
          </p:cNvPr>
          <p:cNvSpPr txBox="1">
            <a:spLocks/>
          </p:cNvSpPr>
          <p:nvPr/>
        </p:nvSpPr>
        <p:spPr>
          <a:xfrm>
            <a:off x="-214160" y="617484"/>
            <a:ext cx="5216627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2600" b="1" u="sng" dirty="0"/>
              <a:t>Sense Amplifier</a:t>
            </a:r>
            <a:endParaRPr lang="en-US" sz="2600" u="sn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97CC4E-5907-B741-4965-1A64103EF57C}"/>
              </a:ext>
            </a:extLst>
          </p:cNvPr>
          <p:cNvGrpSpPr/>
          <p:nvPr/>
        </p:nvGrpSpPr>
        <p:grpSpPr>
          <a:xfrm>
            <a:off x="4855754" y="875071"/>
            <a:ext cx="4973896" cy="3224981"/>
            <a:chOff x="582386" y="-715481"/>
            <a:chExt cx="4838700" cy="28679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721D3CD-1F84-854F-1D58-660A1540E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27" b="1427"/>
            <a:stretch/>
          </p:blipFill>
          <p:spPr bwMode="auto">
            <a:xfrm>
              <a:off x="582387" y="-715481"/>
              <a:ext cx="4838699" cy="256872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4CD69AC8-0EAB-6A2E-0934-7FA2C2CEB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20. Sense amplifier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93356BA-4CD8-5F0D-6E92-B50AD0364A6B}"/>
              </a:ext>
            </a:extLst>
          </p:cNvPr>
          <p:cNvGrpSpPr/>
          <p:nvPr/>
        </p:nvGrpSpPr>
        <p:grpSpPr>
          <a:xfrm>
            <a:off x="4855754" y="4218039"/>
            <a:ext cx="4988947" cy="2094270"/>
            <a:chOff x="-1581313" y="-715482"/>
            <a:chExt cx="9135211" cy="28679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DB5C6A-3B54-C8D0-2239-C696109B9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0" r="-1090"/>
            <a:stretch>
              <a:fillRect/>
            </a:stretch>
          </p:blipFill>
          <p:spPr bwMode="auto">
            <a:xfrm>
              <a:off x="-1581313" y="-715482"/>
              <a:ext cx="9135211" cy="256872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6A552043-827F-2086-6DFB-20FBD9BF7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21. Sense Amplifier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test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443198-B81A-6975-0951-C41B9670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20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085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D7CC-76B1-31C8-CC38-39A953DF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238E1432-89E1-06ED-D0AF-3806C49E9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0439" y="-88490"/>
            <a:ext cx="10485490" cy="7098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65CDAD4-F20A-D069-A46C-13295C5AE0A8}"/>
              </a:ext>
            </a:extLst>
          </p:cNvPr>
          <p:cNvSpPr txBox="1">
            <a:spLocks/>
          </p:cNvSpPr>
          <p:nvPr/>
        </p:nvSpPr>
        <p:spPr>
          <a:xfrm>
            <a:off x="136269" y="551503"/>
            <a:ext cx="5216627" cy="10207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2400" b="1" u="sng" dirty="0"/>
              <a:t>1-bit SRAM Architecture Analysis</a:t>
            </a:r>
            <a:endParaRPr lang="en-US" sz="2400" u="sng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B1CF6F-A617-932A-A5F7-CFAD0E1ED920}"/>
              </a:ext>
            </a:extLst>
          </p:cNvPr>
          <p:cNvGrpSpPr/>
          <p:nvPr/>
        </p:nvGrpSpPr>
        <p:grpSpPr>
          <a:xfrm>
            <a:off x="5879689" y="914400"/>
            <a:ext cx="3890041" cy="5388077"/>
            <a:chOff x="673499" y="-1197741"/>
            <a:chExt cx="5702517" cy="376954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03FC4E-A04E-7EFE-629E-73DF442C4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0" r="2464"/>
            <a:stretch>
              <a:fillRect/>
            </a:stretch>
          </p:blipFill>
          <p:spPr bwMode="auto">
            <a:xfrm>
              <a:off x="673499" y="-1197741"/>
              <a:ext cx="5702517" cy="351702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F6F1BBA6-4F39-90A3-7ABE-915C23C08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766" y="2319280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Single SRAM cell Architecture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31D9AC-1F0F-4D6A-C8FD-80B8A77ED903}"/>
                  </a:ext>
                </a:extLst>
              </p:cNvPr>
              <p:cNvSpPr txBox="1"/>
              <p:nvPr/>
            </p:nvSpPr>
            <p:spPr>
              <a:xfrm>
                <a:off x="136269" y="1287193"/>
                <a:ext cx="5649688" cy="5038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dirty="0"/>
                  <a:t>When </a:t>
                </a:r>
                <a:r>
                  <a:rPr lang="en-IN" sz="1400" b="1" dirty="0"/>
                  <a:t>PC = 0</a:t>
                </a:r>
                <a:r>
                  <a:rPr lang="en-IN" sz="1400" dirty="0"/>
                  <a:t>, the precharge circuit charges both bitlines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𝐵𝐿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𝐵𝐿𝐵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</m:oMath>
                  </m:oMathPara>
                </a14:m>
                <a:endParaRPr lang="ar-AE" sz="14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dirty="0"/>
                  <a:t>When </a:t>
                </a:r>
                <a:r>
                  <a:rPr lang="en-IN" sz="1400" b="1" dirty="0"/>
                  <a:t>WE = 1</a:t>
                </a:r>
                <a:r>
                  <a:rPr lang="en-IN" sz="1400" dirty="0"/>
                  <a:t>, the write driver forces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>
                          <a:latin typeface="Cambria Math" panose="02040503050406030204" pitchFamily="18" charset="0"/>
                        </a:rPr>
                        <m:t>𝐵𝐿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𝐷𝐴𝑇𝐴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𝐵𝐿𝐵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groupChr>
                        <m:groupChrPr>
                          <m:chr m:val="‾"/>
                          <m:pos m:val="top"/>
                          <m:vertJc m:val="bot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𝐷𝐴𝑇𝐴</m:t>
                          </m:r>
                        </m:e>
                      </m:groupChr>
                    </m:oMath>
                  </m:oMathPara>
                </a14:m>
                <a:endParaRPr lang="ar-AE" sz="14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b="1" dirty="0"/>
                  <a:t>Write Operation: </a:t>
                </a:r>
                <a:r>
                  <a:rPr lang="en-IN" sz="1400" dirty="0"/>
                  <a:t>When </a:t>
                </a:r>
                <a:r>
                  <a:rPr lang="en-IN" sz="1400" b="1" dirty="0"/>
                  <a:t>WE = 1 and WL = 1</a:t>
                </a:r>
                <a:r>
                  <a:rPr lang="en-IN" sz="1400" dirty="0"/>
                  <a:t>, the input data is written into the SRAM cell and stored at node </a:t>
                </a:r>
                <a:r>
                  <a:rPr lang="en-IN" sz="1400" b="1" dirty="0"/>
                  <a:t>Q</a:t>
                </a:r>
                <a:r>
                  <a:rPr lang="en-IN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b="1" dirty="0"/>
                  <a:t>Read Operation:</a:t>
                </a:r>
                <a:r>
                  <a:rPr lang="en-IN" sz="1400" dirty="0"/>
                  <a:t> When </a:t>
                </a:r>
                <a:r>
                  <a:rPr lang="en-IN" sz="1400" b="1" dirty="0"/>
                  <a:t>WE = 0 and WL = 1</a:t>
                </a:r>
                <a:r>
                  <a:rPr lang="en-IN" sz="1400" dirty="0"/>
                  <a:t>, both bitlines 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ar-AE" sz="1400" dirty="0"/>
                  <a:t>.</a:t>
                </a:r>
                <a:r>
                  <a:rPr lang="en-US" sz="1400" dirty="0"/>
                  <a:t> </a:t>
                </a:r>
                <a:r>
                  <a:rPr lang="en-IN" sz="1400" dirty="0"/>
                  <a:t>Depending on stored data, </a:t>
                </a:r>
                <a:r>
                  <a:rPr lang="en-IN" sz="1400" b="1" dirty="0"/>
                  <a:t>one bitline discharges slightly</a:t>
                </a:r>
                <a:r>
                  <a:rPr lang="en-IN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b="1" dirty="0"/>
                  <a:t>Sense Amplifier d</a:t>
                </a:r>
                <a:r>
                  <a:rPr lang="en-IN" sz="1400" dirty="0"/>
                  <a:t>etects the small voltage difference between </a:t>
                </a:r>
                <a:r>
                  <a:rPr lang="en-IN" sz="1400" b="1" dirty="0"/>
                  <a:t>BL and BLB</a:t>
                </a:r>
                <a:r>
                  <a:rPr lang="en-IN" sz="1400" dirty="0"/>
                  <a:t> and produces the </a:t>
                </a:r>
                <a:r>
                  <a:rPr lang="en-IN" sz="1400" b="1" dirty="0"/>
                  <a:t>amplified output</a:t>
                </a:r>
                <a:r>
                  <a:rPr lang="en-IN" sz="1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IN" sz="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IN" sz="1400" b="1" dirty="0"/>
                  <a:t>Observation: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A small disturbance appears on the bitlines during read operation.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400" dirty="0"/>
                  <a:t>This is due to </a:t>
                </a:r>
                <a:r>
                  <a:rPr lang="en-IN" sz="1400" b="1" dirty="0"/>
                  <a:t>read disturb and charge sharing between the SRAM cell and bitlines</a:t>
                </a:r>
                <a:r>
                  <a:rPr lang="en-IN" sz="1400" dirty="0"/>
                  <a:t>, which is a normal behaviour in SRAM sensing.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31D9AC-1F0F-4D6A-C8FD-80B8A77ED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69" y="1287193"/>
                <a:ext cx="5649688" cy="5038367"/>
              </a:xfrm>
              <a:prstGeom prst="rect">
                <a:avLst/>
              </a:prstGeom>
              <a:blipFill>
                <a:blip r:embed="rId4"/>
                <a:stretch>
                  <a:fillRect l="-108" r="-971" b="-3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B4CAC-CCEF-BA67-2249-A3FEB612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21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349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F5BE-523C-BAD8-991E-F38FC3AC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656A290C-39F2-1BB0-8605-C19914FB7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3299488-821A-85FD-B1E5-AA607A185CA0}"/>
              </a:ext>
            </a:extLst>
          </p:cNvPr>
          <p:cNvGrpSpPr/>
          <p:nvPr/>
        </p:nvGrpSpPr>
        <p:grpSpPr>
          <a:xfrm>
            <a:off x="108154" y="1132226"/>
            <a:ext cx="9670027" cy="4988139"/>
            <a:chOff x="-930476" y="-353836"/>
            <a:chExt cx="7711744" cy="24412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573E158-3AE4-87CC-95C4-8AD80B96A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1"/>
            <a:stretch>
              <a:fillRect/>
            </a:stretch>
          </p:blipFill>
          <p:spPr bwMode="auto">
            <a:xfrm>
              <a:off x="-930476" y="-353836"/>
              <a:ext cx="7711744" cy="218873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Text Box 2">
              <a:extLst>
                <a:ext uri="{FF2B5EF4-FFF2-40B4-BE49-F238E27FC236}">
                  <a16:creationId xmlns:a16="http://schemas.microsoft.com/office/drawing/2014/main" id="{94075BB2-53A7-D3D3-E5BD-FE98D5D3D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14793" y="1834899"/>
              <a:ext cx="7696061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23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1-bit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7T 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SRAM analysis waveform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E031B-F0BB-6E10-1622-5E2C3377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22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79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79969-1E8B-5EA0-5F4F-4145EA84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BA29E6E-48D4-C763-FF18-FE6D70EBE67D}"/>
              </a:ext>
            </a:extLst>
          </p:cNvPr>
          <p:cNvGrpSpPr/>
          <p:nvPr/>
        </p:nvGrpSpPr>
        <p:grpSpPr>
          <a:xfrm>
            <a:off x="184355" y="137653"/>
            <a:ext cx="9537290" cy="3291348"/>
            <a:chOff x="-823005" y="-491028"/>
            <a:chExt cx="7623659" cy="26435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4C4A41-42AF-A322-26F4-845DF318B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7" b="197"/>
            <a:stretch/>
          </p:blipFill>
          <p:spPr bwMode="auto">
            <a:xfrm>
              <a:off x="-823005" y="-491028"/>
              <a:ext cx="7623659" cy="239099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7BF8DE51-21DE-1948-ED0B-CD04D9EB0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24.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Precharge conditions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3751CC7-2E3A-A532-F704-0FBB4513FD4C}"/>
              </a:ext>
            </a:extLst>
          </p:cNvPr>
          <p:cNvGrpSpPr/>
          <p:nvPr/>
        </p:nvGrpSpPr>
        <p:grpSpPr>
          <a:xfrm>
            <a:off x="184355" y="3588774"/>
            <a:ext cx="9537290" cy="2974369"/>
            <a:chOff x="-823005" y="-473260"/>
            <a:chExt cx="7623659" cy="23889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DD813D-CDA0-B191-B3B3-F49FCADEF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" b="378"/>
            <a:stretch/>
          </p:blipFill>
          <p:spPr bwMode="auto">
            <a:xfrm>
              <a:off x="-823005" y="-473260"/>
              <a:ext cx="7623659" cy="212070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EFDC1209-E2B9-2746-FBC0-BBCFF7E59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663146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25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 write enable condition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2D2CDC-8382-F7D3-51E7-C78465FA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23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355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60D8-6253-BFAB-6EC3-699E34A96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61FEB6F-D3E6-54CE-BA7B-9A8D6801D030}"/>
              </a:ext>
            </a:extLst>
          </p:cNvPr>
          <p:cNvGrpSpPr/>
          <p:nvPr/>
        </p:nvGrpSpPr>
        <p:grpSpPr>
          <a:xfrm>
            <a:off x="184355" y="98101"/>
            <a:ext cx="9537290" cy="2640403"/>
            <a:chOff x="-823005" y="-522795"/>
            <a:chExt cx="7623659" cy="26752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B7D2D1-CA3F-AE58-BE3B-2CC2CA994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9" b="389"/>
            <a:stretch/>
          </p:blipFill>
          <p:spPr bwMode="auto">
            <a:xfrm>
              <a:off x="-823005" y="-522795"/>
              <a:ext cx="7623659" cy="240499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7" name="Text Box 2">
              <a:extLst>
                <a:ext uri="{FF2B5EF4-FFF2-40B4-BE49-F238E27FC236}">
                  <a16:creationId xmlns:a16="http://schemas.microsoft.com/office/drawing/2014/main" id="{D42C03F8-4577-6D80-CD98-BC95E8E52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899967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26. Write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conditions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CB246FF-01CB-DD91-41DA-CCE3B8A6F3C2}"/>
              </a:ext>
            </a:extLst>
          </p:cNvPr>
          <p:cNvGrpSpPr/>
          <p:nvPr/>
        </p:nvGrpSpPr>
        <p:grpSpPr>
          <a:xfrm>
            <a:off x="184355" y="2880303"/>
            <a:ext cx="9537290" cy="3879596"/>
            <a:chOff x="-823005" y="-596919"/>
            <a:chExt cx="7623659" cy="25125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79F117-A8AC-D79D-1CAF-155D942BB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" r="198"/>
            <a:stretch/>
          </p:blipFill>
          <p:spPr bwMode="auto">
            <a:xfrm>
              <a:off x="-823005" y="-596919"/>
              <a:ext cx="7623659" cy="226006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423A9DC2-108F-C616-9A53-BB69DE87F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386" y="1663146"/>
              <a:ext cx="4838700" cy="2525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 Read condition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638D50-D6A5-D59F-9735-09FC73DF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24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746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21A4-DAAE-E23B-4202-FCBF1422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>
            <a:extLst>
              <a:ext uri="{FF2B5EF4-FFF2-40B4-BE49-F238E27FC236}">
                <a16:creationId xmlns:a16="http://schemas.microsoft.com/office/drawing/2014/main" id="{3D7EDD72-99FA-879C-F6A3-266E13F6B23B}"/>
              </a:ext>
            </a:extLst>
          </p:cNvPr>
          <p:cNvSpPr txBox="1">
            <a:spLocks/>
          </p:cNvSpPr>
          <p:nvPr/>
        </p:nvSpPr>
        <p:spPr bwMode="auto">
          <a:xfrm>
            <a:off x="5171768" y="89387"/>
            <a:ext cx="4586952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2400" b="1" dirty="0"/>
              <a:t>16×8 7T SRAM Array with all peripheral circuits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361325-F718-B0DC-AD9A-5E270AD7EE94}"/>
                  </a:ext>
                </a:extLst>
              </p:cNvPr>
              <p:cNvSpPr txBox="1"/>
              <p:nvPr/>
            </p:nvSpPr>
            <p:spPr>
              <a:xfrm>
                <a:off x="5171768" y="1143354"/>
                <a:ext cx="4586952" cy="5223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 </a:t>
                </a:r>
                <a:r>
                  <a:rPr lang="en-US" sz="1400" b="1" dirty="0"/>
                  <a:t>16×8 SRAM array</a:t>
                </a:r>
                <a:r>
                  <a:rPr lang="en-US" sz="1400" dirty="0"/>
                  <a:t> is designed using the proposed </a:t>
                </a:r>
                <a:r>
                  <a:rPr lang="en-US" sz="1400" b="1" dirty="0"/>
                  <a:t>7T SRAM cell architecture</a:t>
                </a:r>
                <a:r>
                  <a:rPr lang="en-US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 </a:t>
                </a:r>
                <a:r>
                  <a:rPr lang="en-US" sz="1400" b="1" dirty="0"/>
                  <a:t>4×16 Row Decoder</a:t>
                </a:r>
                <a:r>
                  <a:rPr lang="en-US" sz="1400" dirty="0"/>
                  <a:t> converts the </a:t>
                </a:r>
                <a:r>
                  <a:rPr lang="en-US" sz="1400" b="1" dirty="0"/>
                  <a:t>4-bit address input</a:t>
                </a:r>
                <a:r>
                  <a:rPr lang="en-US" sz="1400" dirty="0"/>
                  <a:t> into </a:t>
                </a:r>
                <a:r>
                  <a:rPr lang="en-US" sz="1400" b="1" dirty="0"/>
                  <a:t>16 </a:t>
                </a:r>
                <a:r>
                  <a:rPr lang="en-US" sz="1400" b="1" dirty="0" err="1"/>
                  <a:t>wordlines</a:t>
                </a:r>
                <a:r>
                  <a:rPr lang="en-US" sz="1400" b="1" dirty="0"/>
                  <a:t> (WL)</a:t>
                </a:r>
                <a:r>
                  <a:rPr lang="en-US" sz="1400" dirty="0"/>
                  <a:t> to select a specific row.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b="1" dirty="0"/>
                  <a:t>Write Drivers</a:t>
                </a:r>
                <a:r>
                  <a:rPr lang="en-US" sz="1400" dirty="0"/>
                  <a:t> receive </a:t>
                </a:r>
                <a:r>
                  <a:rPr lang="en-US" sz="1400" b="1" dirty="0"/>
                  <a:t>DATA_IN</a:t>
                </a:r>
                <a:r>
                  <a:rPr lang="en-US" sz="1400" dirty="0"/>
                  <a:t> and, based on </a:t>
                </a:r>
                <a:r>
                  <a:rPr lang="en-US" sz="1400" b="1" dirty="0"/>
                  <a:t>WE and WEB</a:t>
                </a:r>
                <a:r>
                  <a:rPr lang="en-US" sz="1400" dirty="0"/>
                  <a:t>, generate the differential bitlines: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𝐵𝐿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400" i="1"/>
                      <m:t>  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𝐵𝐿𝐵</m:t>
                    </m:r>
                  </m:oMath>
                </a14:m>
                <a:endParaRPr lang="en-US" sz="14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The </a:t>
                </a:r>
                <a:r>
                  <a:rPr lang="en-US" sz="1400" b="1" dirty="0"/>
                  <a:t>Precharge Circuit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precharges</a:t>
                </a:r>
                <a:r>
                  <a:rPr lang="en-US" sz="1400" dirty="0"/>
                  <a:t> both bitlines to </a:t>
                </a:r>
                <a:r>
                  <a:rPr lang="en-US" sz="1400" b="1" dirty="0"/>
                  <a:t>VDD</a:t>
                </a:r>
                <a:r>
                  <a:rPr lang="en-US" sz="1400" dirty="0"/>
                  <a:t> before every read operation.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The </a:t>
                </a:r>
                <a:r>
                  <a:rPr lang="en-US" sz="1400" b="1" dirty="0"/>
                  <a:t>7T SRAM Cell Array</a:t>
                </a:r>
                <a:r>
                  <a:rPr lang="en-US" sz="1400" dirty="0"/>
                  <a:t> stores the data using cross-coupled inverters and access transistors.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During read, the </a:t>
                </a:r>
                <a:r>
                  <a:rPr lang="en-US" sz="1400" b="1" dirty="0"/>
                  <a:t>Sense Amplifier</a:t>
                </a:r>
                <a:r>
                  <a:rPr lang="en-US" sz="1400" dirty="0"/>
                  <a:t> detects the voltage difference between </a:t>
                </a:r>
                <a:r>
                  <a:rPr lang="en-US" sz="1400" b="1" dirty="0"/>
                  <a:t>BL and BLB</a:t>
                </a:r>
                <a:r>
                  <a:rPr lang="en-US" sz="1400" dirty="0"/>
                  <a:t> and produces the </a:t>
                </a:r>
                <a:r>
                  <a:rPr lang="en-US" sz="1400" b="1" dirty="0"/>
                  <a:t>DATA_OUT</a:t>
                </a:r>
                <a:r>
                  <a:rPr lang="en-US" sz="1400" dirty="0"/>
                  <a:t> signal based on </a:t>
                </a:r>
                <a:r>
                  <a:rPr lang="en-US" sz="1400" b="1" dirty="0"/>
                  <a:t>SAE</a:t>
                </a:r>
                <a:r>
                  <a:rPr lang="en-US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All blocks share a common </a:t>
                </a:r>
                <a:r>
                  <a:rPr lang="en-US" sz="1400" b="1" dirty="0"/>
                  <a:t>VDD and GND</a:t>
                </a:r>
                <a:r>
                  <a:rPr lang="en-US" sz="1400" dirty="0"/>
                  <a:t> supply network.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361325-F718-B0DC-AD9A-5E270AD7E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768" y="1143354"/>
                <a:ext cx="4586952" cy="5223033"/>
              </a:xfrm>
              <a:prstGeom prst="rect">
                <a:avLst/>
              </a:prstGeom>
              <a:blipFill>
                <a:blip r:embed="rId2"/>
                <a:stretch>
                  <a:fillRect l="-133" r="-1328" b="-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46E90A2-8E8C-3C30-0D02-B622D1E44FBB}"/>
              </a:ext>
            </a:extLst>
          </p:cNvPr>
          <p:cNvGrpSpPr/>
          <p:nvPr/>
        </p:nvGrpSpPr>
        <p:grpSpPr>
          <a:xfrm>
            <a:off x="105381" y="89387"/>
            <a:ext cx="4971743" cy="6660387"/>
            <a:chOff x="-23447" y="-4656621"/>
            <a:chExt cx="5264548" cy="81584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2A6C294-3C6D-F2ED-9E95-70C0238A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90" t="-626" r="5933" b="-1258"/>
            <a:stretch>
              <a:fillRect/>
            </a:stretch>
          </p:blipFill>
          <p:spPr bwMode="auto">
            <a:xfrm>
              <a:off x="-23447" y="-4656621"/>
              <a:ext cx="5241102" cy="783460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8D0FA293-27DC-883F-315C-31B8ACB60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" y="3177988"/>
              <a:ext cx="5241102" cy="323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28. </a:t>
              </a:r>
              <a:r>
                <a:rPr lang="en-US" sz="1100" dirty="0"/>
                <a:t>16 × 8 7T SRAM Array with Peripheral Circuits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BED0D5-329C-FEC9-8981-DBED95F559FA}"/>
              </a:ext>
            </a:extLst>
          </p:cNvPr>
          <p:cNvCxnSpPr>
            <a:cxnSpLocks/>
          </p:cNvCxnSpPr>
          <p:nvPr/>
        </p:nvCxnSpPr>
        <p:spPr>
          <a:xfrm>
            <a:off x="5171768" y="1122793"/>
            <a:ext cx="458695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89B6F-8376-B901-85B5-0B5D7EBE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25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561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238A-6100-ACB0-1321-76AA692E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4FE6EC1E-F6D6-6968-08C5-DF2B5D55D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058"/>
            <a:ext cx="9925050" cy="699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itle 1">
            <a:extLst>
              <a:ext uri="{FF2B5EF4-FFF2-40B4-BE49-F238E27FC236}">
                <a16:creationId xmlns:a16="http://schemas.microsoft.com/office/drawing/2014/main" id="{D5DF9142-2E92-FAE0-89D9-93F11E922FCF}"/>
              </a:ext>
            </a:extLst>
          </p:cNvPr>
          <p:cNvSpPr txBox="1">
            <a:spLocks/>
          </p:cNvSpPr>
          <p:nvPr/>
        </p:nvSpPr>
        <p:spPr bwMode="auto">
          <a:xfrm>
            <a:off x="109264" y="581778"/>
            <a:ext cx="9906000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600" b="1" u="sng" dirty="0"/>
              <a:t>Layout Design</a:t>
            </a:r>
            <a:endParaRPr lang="en-US" sz="2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AABBD1-E8B9-FD60-BEA7-0BE016C3AE74}"/>
                  </a:ext>
                </a:extLst>
              </p:cNvPr>
              <p:cNvSpPr txBox="1"/>
              <p:nvPr/>
            </p:nvSpPr>
            <p:spPr>
              <a:xfrm>
                <a:off x="87876" y="1361770"/>
                <a:ext cx="9837174" cy="4319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500" dirty="0"/>
                  <a:t>Layout implemented in </a:t>
                </a:r>
                <a:r>
                  <a:rPr lang="en-IN" sz="1500" b="1" dirty="0"/>
                  <a:t>Cadence Virtuoso using 180 nm XFAB PDK</a:t>
                </a:r>
                <a:r>
                  <a:rPr lang="en-IN" sz="15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500" dirty="0"/>
                  <a:t>Physical realization of circuits using </a:t>
                </a:r>
                <a:r>
                  <a:rPr lang="en-IN" sz="1500" b="1" dirty="0"/>
                  <a:t>transistors, metal layers and interconnections</a:t>
                </a:r>
                <a:r>
                  <a:rPr lang="en-IN" sz="15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IN" sz="800" dirty="0"/>
              </a:p>
              <a:p>
                <a:pPr>
                  <a:lnSpc>
                    <a:spcPct val="150000"/>
                  </a:lnSpc>
                </a:pPr>
                <a:r>
                  <a:rPr lang="en-IN" sz="1600" b="1" u="sng" dirty="0"/>
                  <a:t>Completed Layouts Designed</a:t>
                </a:r>
                <a:r>
                  <a:rPr lang="en-IN" sz="1600" b="1" dirty="0"/>
                  <a:t>: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500" dirty="0"/>
                  <a:t>CMOS Inverter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500" dirty="0"/>
                  <a:t>4-Input AND Gate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500" dirty="0"/>
                  <a:t>4×16 Row Decoder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500" dirty="0"/>
                  <a:t>7T – SRAM cell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IN" sz="1500" dirty="0"/>
                  <a:t>Precharge cell</a:t>
                </a:r>
              </a:p>
              <a:p>
                <a:pPr>
                  <a:lnSpc>
                    <a:spcPct val="150000"/>
                  </a:lnSpc>
                </a:pPr>
                <a:endParaRPr lang="en-IN" sz="800" dirty="0"/>
              </a:p>
              <a:p>
                <a:pPr>
                  <a:lnSpc>
                    <a:spcPct val="150000"/>
                  </a:lnSpc>
                </a:pPr>
                <a:r>
                  <a:rPr lang="en-IN" sz="1600" b="1" u="sng" dirty="0"/>
                  <a:t>Verification</a:t>
                </a:r>
                <a:endParaRPr lang="en-IN" sz="1600" u="sng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500" b="1" dirty="0"/>
                  <a:t>DRC (Design Rule Check) - </a:t>
                </a:r>
                <a:r>
                  <a:rPr lang="en-IN" sz="1500" dirty="0"/>
                  <a:t>Ensures layout follows fabrication design rules.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IN" sz="1500" b="1" dirty="0"/>
                  <a:t>LVS (Layout vs Schematic)</a:t>
                </a:r>
                <a:r>
                  <a:rPr lang="en-IN" sz="1500" dirty="0"/>
                  <a:t> -  </a:t>
                </a: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𝐿𝑎𝑦𝑜𝑢𝑡</m:t>
                    </m:r>
                    <m:r>
                      <a:rPr lang="en-IN" sz="1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500" i="1">
                        <a:latin typeface="Cambria Math" panose="02040503050406030204" pitchFamily="18" charset="0"/>
                      </a:rPr>
                      <m:t>𝑆𝑐</m:t>
                    </m:r>
                    <m:r>
                      <a:rPr lang="en-IN" sz="15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1500" i="1">
                        <a:latin typeface="Cambria Math" panose="02040503050406030204" pitchFamily="18" charset="0"/>
                      </a:rPr>
                      <m:t>𝑒𝑚𝑎𝑡𝑖𝑐</m:t>
                    </m:r>
                  </m:oMath>
                </a14:m>
                <a:r>
                  <a:rPr lang="en-IN" sz="1500" dirty="0"/>
                  <a:t>        Confirms layout matches the circuit schematic.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AABBD1-E8B9-FD60-BEA7-0BE016C3A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6" y="1361770"/>
                <a:ext cx="9837174" cy="4319965"/>
              </a:xfrm>
              <a:prstGeom prst="rect">
                <a:avLst/>
              </a:prstGeom>
              <a:blipFill>
                <a:blip r:embed="rId3"/>
                <a:stretch>
                  <a:fillRect l="-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351B93E-5F85-55DB-1E57-1C8080FF3867}"/>
              </a:ext>
            </a:extLst>
          </p:cNvPr>
          <p:cNvCxnSpPr>
            <a:cxnSpLocks/>
          </p:cNvCxnSpPr>
          <p:nvPr/>
        </p:nvCxnSpPr>
        <p:spPr>
          <a:xfrm>
            <a:off x="4953000" y="5462610"/>
            <a:ext cx="218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89A1413-E1D5-0D8F-ADDC-6863E816113A}"/>
              </a:ext>
            </a:extLst>
          </p:cNvPr>
          <p:cNvSpPr/>
          <p:nvPr/>
        </p:nvSpPr>
        <p:spPr>
          <a:xfrm>
            <a:off x="3082596" y="5324962"/>
            <a:ext cx="1826466" cy="27529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5DD21-4DFE-4DA6-A5B0-89E2CC55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26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64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8F44-D9F8-A386-13E3-58C93AB7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E3177A00-3B1B-90E4-EBBD-D9F824CD3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058"/>
            <a:ext cx="9925050" cy="699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060D331-CE84-387A-9DFA-E67018076D58}"/>
              </a:ext>
            </a:extLst>
          </p:cNvPr>
          <p:cNvGrpSpPr/>
          <p:nvPr/>
        </p:nvGrpSpPr>
        <p:grpSpPr>
          <a:xfrm>
            <a:off x="174829" y="934065"/>
            <a:ext cx="9569553" cy="5073444"/>
            <a:chOff x="174829" y="934065"/>
            <a:chExt cx="9569553" cy="50734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BF0EFB-2A3C-7A63-5BC7-265676D0D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9141" y="941388"/>
              <a:ext cx="3226518" cy="468266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7533B6-0804-7A74-7FEC-D93FC7A6A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56" r="45806"/>
            <a:stretch>
              <a:fillRect/>
            </a:stretch>
          </p:blipFill>
          <p:spPr>
            <a:xfrm>
              <a:off x="6711130" y="941389"/>
              <a:ext cx="3020041" cy="468266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119484A-DD41-221F-ED7B-56E83F044303}"/>
                </a:ext>
              </a:extLst>
            </p:cNvPr>
            <p:cNvGrpSpPr/>
            <p:nvPr/>
          </p:nvGrpSpPr>
          <p:grpSpPr>
            <a:xfrm>
              <a:off x="174829" y="934065"/>
              <a:ext cx="3010823" cy="5073444"/>
              <a:chOff x="174829" y="934065"/>
              <a:chExt cx="3010823" cy="507344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1B51D86-BD2C-8E3D-0784-504111714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829" y="934065"/>
                <a:ext cx="3010823" cy="4689986"/>
              </a:xfrm>
              <a:prstGeom prst="rect">
                <a:avLst/>
              </a:prstGeom>
            </p:spPr>
          </p:pic>
          <p:sp>
            <p:nvSpPr>
              <p:cNvPr id="11" name="Text Box 2">
                <a:extLst>
                  <a:ext uri="{FF2B5EF4-FFF2-40B4-BE49-F238E27FC236}">
                    <a16:creationId xmlns:a16="http://schemas.microsoft.com/office/drawing/2014/main" id="{62152321-439A-5359-300F-06209301D2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09" y="5624051"/>
                <a:ext cx="3007443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29. Inverter Layout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Text Box 2">
              <a:extLst>
                <a:ext uri="{FF2B5EF4-FFF2-40B4-BE49-F238E27FC236}">
                  <a16:creationId xmlns:a16="http://schemas.microsoft.com/office/drawing/2014/main" id="{5D48D5E2-6DBA-9ED1-A4FC-EB6F0BA33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834" y="5624050"/>
              <a:ext cx="3201016" cy="38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30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4-input AND gate Layout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40B569EB-B4B8-584E-3BD3-69F0A1E6B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939" y="5624050"/>
              <a:ext cx="3007443" cy="38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31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4x16 Decoder Layout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F6A425-E48B-9F8A-3DDB-39FBFFEC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27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330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01F8B-8859-00C1-CF8F-D4A3D8B9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9F7D2490-450B-5528-F209-FEF02C7EA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058"/>
            <a:ext cx="9925050" cy="699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0817F-3531-2B12-184A-045B85D7D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1" r="656"/>
          <a:stretch>
            <a:fillRect/>
          </a:stretch>
        </p:blipFill>
        <p:spPr>
          <a:xfrm>
            <a:off x="4748981" y="941389"/>
            <a:ext cx="4812890" cy="468266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85C91-31A5-E961-7782-4881176F525A}"/>
              </a:ext>
            </a:extLst>
          </p:cNvPr>
          <p:cNvGrpSpPr/>
          <p:nvPr/>
        </p:nvGrpSpPr>
        <p:grpSpPr>
          <a:xfrm>
            <a:off x="180063" y="934065"/>
            <a:ext cx="4657408" cy="5073444"/>
            <a:chOff x="178209" y="934065"/>
            <a:chExt cx="3007443" cy="50734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2C2F73E-9A37-6B42-ABED-57A535295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4152" y="934065"/>
              <a:ext cx="2793567" cy="4689986"/>
            </a:xfrm>
            <a:prstGeom prst="rect">
              <a:avLst/>
            </a:prstGeom>
          </p:spPr>
        </p:pic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C2EFE0E4-C2EC-F6AB-40EA-2E70C84AB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09" y="5624051"/>
              <a:ext cx="3007443" cy="383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Fig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32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</a:t>
              </a:r>
              <a:r>
                <a:rPr lang="en-US" sz="11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7T SRAM</a:t>
              </a:r>
              <a:r>
                <a:rPr lang="en-US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Layout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 Box 2">
            <a:extLst>
              <a:ext uri="{FF2B5EF4-FFF2-40B4-BE49-F238E27FC236}">
                <a16:creationId xmlns:a16="http://schemas.microsoft.com/office/drawing/2014/main" id="{F111A1BE-5AEA-212A-C9D8-49DAF9D97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4389" y="5624049"/>
            <a:ext cx="4727482" cy="383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 </a:t>
            </a:r>
            <a:r>
              <a:rPr lang="en-US" sz="1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en-US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4x16 Decoder Layout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B97E5F-8D33-839F-4D24-DF3A19FF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28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99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44C1-E676-50A7-57BD-4203DCE1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D953B1C1-8EA3-4E39-156A-5887CC419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058"/>
            <a:ext cx="9925050" cy="71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90487E9-77AA-2687-A3E5-45807B960079}"/>
              </a:ext>
            </a:extLst>
          </p:cNvPr>
          <p:cNvGrpSpPr/>
          <p:nvPr/>
        </p:nvGrpSpPr>
        <p:grpSpPr>
          <a:xfrm>
            <a:off x="426789" y="934065"/>
            <a:ext cx="9052421" cy="2694037"/>
            <a:chOff x="180065" y="934065"/>
            <a:chExt cx="9052421" cy="269403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4AD864C-2868-86AE-242F-B3BAE3922AEE}"/>
                </a:ext>
              </a:extLst>
            </p:cNvPr>
            <p:cNvGrpSpPr/>
            <p:nvPr/>
          </p:nvGrpSpPr>
          <p:grpSpPr>
            <a:xfrm>
              <a:off x="180065" y="934065"/>
              <a:ext cx="2897432" cy="2686663"/>
              <a:chOff x="178210" y="934065"/>
              <a:chExt cx="1769385" cy="268666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0D4D061-CCDB-4AD6-038F-C95992A3FB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8210" y="934065"/>
                <a:ext cx="1769385" cy="2276167"/>
              </a:xfrm>
              <a:prstGeom prst="rect">
                <a:avLst/>
              </a:prstGeom>
            </p:spPr>
          </p:pic>
          <p:sp>
            <p:nvSpPr>
              <p:cNvPr id="11" name="Text Box 2">
                <a:extLst>
                  <a:ext uri="{FF2B5EF4-FFF2-40B4-BE49-F238E27FC236}">
                    <a16:creationId xmlns:a16="http://schemas.microsoft.com/office/drawing/2014/main" id="{CAD1E910-FE9F-0870-5FCA-B4D77F127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10" y="3237270"/>
                <a:ext cx="1769385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34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Inverter layout DRC and LVS check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97C983-3AE4-B586-2474-BE02CA5343B3}"/>
                </a:ext>
              </a:extLst>
            </p:cNvPr>
            <p:cNvGrpSpPr/>
            <p:nvPr/>
          </p:nvGrpSpPr>
          <p:grpSpPr>
            <a:xfrm>
              <a:off x="3257561" y="941439"/>
              <a:ext cx="2897431" cy="2686663"/>
              <a:chOff x="178210" y="934065"/>
              <a:chExt cx="1769385" cy="268666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E45D731-BC39-D883-44D7-393C45C4B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8210" y="934065"/>
                <a:ext cx="1769385" cy="2276167"/>
              </a:xfrm>
              <a:prstGeom prst="rect">
                <a:avLst/>
              </a:prstGeom>
            </p:spPr>
          </p:pic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97318CFA-AB61-834C-1B1D-72A32662D6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10" y="3237270"/>
                <a:ext cx="1769385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35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4-input AND Layout DRC and LVS check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F3151FC-BB2B-490D-E526-668744C1CF7F}"/>
                </a:ext>
              </a:extLst>
            </p:cNvPr>
            <p:cNvGrpSpPr/>
            <p:nvPr/>
          </p:nvGrpSpPr>
          <p:grpSpPr>
            <a:xfrm>
              <a:off x="6335056" y="956768"/>
              <a:ext cx="2897430" cy="2671334"/>
              <a:chOff x="178210" y="949394"/>
              <a:chExt cx="1769385" cy="2671334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561ED5E-1006-0133-DA3D-6293FF11D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8210" y="949394"/>
                <a:ext cx="1769385" cy="2245508"/>
              </a:xfrm>
              <a:prstGeom prst="rect">
                <a:avLst/>
              </a:prstGeom>
            </p:spPr>
          </p:pic>
          <p:sp>
            <p:nvSpPr>
              <p:cNvPr id="15" name="Text Box 2">
                <a:extLst>
                  <a:ext uri="{FF2B5EF4-FFF2-40B4-BE49-F238E27FC236}">
                    <a16:creationId xmlns:a16="http://schemas.microsoft.com/office/drawing/2014/main" id="{C98F0633-CB24-4C20-AA5E-27CE5540C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10" y="3237270"/>
                <a:ext cx="1769385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36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Row decoder Layout DRC and LVS check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ED252F-3DE0-0A56-2DCA-57D6EF2D4297}"/>
              </a:ext>
            </a:extLst>
          </p:cNvPr>
          <p:cNvGrpSpPr/>
          <p:nvPr/>
        </p:nvGrpSpPr>
        <p:grpSpPr>
          <a:xfrm>
            <a:off x="1979370" y="3655140"/>
            <a:ext cx="5947260" cy="2686663"/>
            <a:chOff x="1656446" y="3728500"/>
            <a:chExt cx="5947260" cy="268666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EFC073-397F-A422-1F10-8239A397F308}"/>
                </a:ext>
              </a:extLst>
            </p:cNvPr>
            <p:cNvGrpSpPr/>
            <p:nvPr/>
          </p:nvGrpSpPr>
          <p:grpSpPr>
            <a:xfrm>
              <a:off x="4706276" y="3732011"/>
              <a:ext cx="2897430" cy="2683152"/>
              <a:chOff x="178210" y="937576"/>
              <a:chExt cx="1769385" cy="268315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57FBAB8-9018-AD6A-9C06-EA0F84F6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8211" y="937576"/>
                <a:ext cx="1769384" cy="2269144"/>
              </a:xfrm>
              <a:prstGeom prst="rect">
                <a:avLst/>
              </a:prstGeom>
            </p:spPr>
          </p:pic>
          <p:sp>
            <p:nvSpPr>
              <p:cNvPr id="8" name="Text Box 2">
                <a:extLst>
                  <a:ext uri="{FF2B5EF4-FFF2-40B4-BE49-F238E27FC236}">
                    <a16:creationId xmlns:a16="http://schemas.microsoft.com/office/drawing/2014/main" id="{38EF46AC-679E-062B-41A6-CB7D8381BB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10" y="3237270"/>
                <a:ext cx="1769385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38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Precharge cell Layout DRC and LVS check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E085CBB-23C4-D109-6D86-A4B7914411DD}"/>
                </a:ext>
              </a:extLst>
            </p:cNvPr>
            <p:cNvGrpSpPr/>
            <p:nvPr/>
          </p:nvGrpSpPr>
          <p:grpSpPr>
            <a:xfrm>
              <a:off x="1656446" y="3728500"/>
              <a:ext cx="2897430" cy="2686663"/>
              <a:chOff x="178210" y="934065"/>
              <a:chExt cx="1769385" cy="2686663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F786C35-A026-6F01-FB9E-F52F9E9D7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8210" y="934065"/>
                <a:ext cx="1769385" cy="2276167"/>
              </a:xfrm>
              <a:prstGeom prst="rect">
                <a:avLst/>
              </a:prstGeom>
            </p:spPr>
          </p:pic>
          <p:sp>
            <p:nvSpPr>
              <p:cNvPr id="18" name="Text Box 2">
                <a:extLst>
                  <a:ext uri="{FF2B5EF4-FFF2-40B4-BE49-F238E27FC236}">
                    <a16:creationId xmlns:a16="http://schemas.microsoft.com/office/drawing/2014/main" id="{18A028EB-E2A9-7738-6F32-A9ECF68E9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10" y="3237270"/>
                <a:ext cx="1769385" cy="3834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Fig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37</a:t>
                </a:r>
                <a:r>
                  <a:rPr lang="en-US" sz="11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sz="11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7T SRAM Layout DRC and LVS check</a:t>
                </a:r>
                <a:endParaRPr lang="en-IN" sz="1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B2C82E-836E-806F-F357-AE295067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29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919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2A75-52A6-2A29-B329-860943DE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>
            <a:extLst>
              <a:ext uri="{FF2B5EF4-FFF2-40B4-BE49-F238E27FC236}">
                <a16:creationId xmlns:a16="http://schemas.microsoft.com/office/drawing/2014/main" id="{C8121A3D-8A96-285C-2740-6556A7D0B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6C4978-0BA7-9F59-1E7E-CA2402D9A22C}"/>
              </a:ext>
            </a:extLst>
          </p:cNvPr>
          <p:cNvSpPr txBox="1"/>
          <p:nvPr/>
        </p:nvSpPr>
        <p:spPr>
          <a:xfrm>
            <a:off x="137652" y="1002890"/>
            <a:ext cx="4815348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Work Completed</a:t>
            </a:r>
            <a:endParaRPr lang="en-US" sz="1600" b="1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Design and simulation of </a:t>
            </a:r>
            <a:r>
              <a:rPr lang="en-US" sz="1400" b="1" dirty="0"/>
              <a:t>6T SRAM cell.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Design of </a:t>
            </a:r>
            <a:r>
              <a:rPr lang="en-US" sz="1400" b="1" dirty="0"/>
              <a:t>proposed 7T SRAM cell.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Functional verification</a:t>
            </a:r>
            <a:r>
              <a:rPr lang="en-US" sz="1400" dirty="0"/>
              <a:t> of read and write operations.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Stability analysis (SNM) and power analysis</a:t>
            </a:r>
            <a:r>
              <a:rPr lang="en-US" sz="1400" dirty="0"/>
              <a:t> of SRAM cells.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Design of peripheral circuits: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/>
              <a:t>4×16 Row Decoder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/>
              <a:t>Precharge Circuit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/>
              <a:t>Write Driver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/>
              <a:t>Sense Amplifier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Layout implementation of </a:t>
            </a:r>
            <a:r>
              <a:rPr lang="en-US" sz="1400" b="1" dirty="0"/>
              <a:t>Inverter, 4-input AND gate, Row Decoder, 7T-SRAM cell and Precharge cell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DRC and LVS verification</a:t>
            </a:r>
            <a:r>
              <a:rPr lang="en-US" sz="1400" dirty="0"/>
              <a:t> of implemented layouts.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5B5D5-451E-F09D-1B8D-3522BE053FC1}"/>
              </a:ext>
            </a:extLst>
          </p:cNvPr>
          <p:cNvSpPr txBox="1"/>
          <p:nvPr/>
        </p:nvSpPr>
        <p:spPr>
          <a:xfrm>
            <a:off x="4962525" y="1002890"/>
            <a:ext cx="4815348" cy="499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u="sng" dirty="0"/>
              <a:t>Work in Progress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Layout design of </a:t>
            </a:r>
            <a:r>
              <a:rPr lang="en-US" sz="1400" b="1" dirty="0"/>
              <a:t>remaining SRAM peripheral circuits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Integration of </a:t>
            </a:r>
            <a:r>
              <a:rPr lang="en-US" sz="1400" b="1" dirty="0"/>
              <a:t>SRAM cells with decoder and bitline circuitry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Optimization of </a:t>
            </a:r>
            <a:r>
              <a:rPr lang="en-US" sz="1400" b="1" dirty="0"/>
              <a:t>array structure and routing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endParaRPr lang="en-US" sz="1200" b="1" u="sng" dirty="0"/>
          </a:p>
          <a:p>
            <a:pPr>
              <a:lnSpc>
                <a:spcPct val="150000"/>
              </a:lnSpc>
            </a:pPr>
            <a:r>
              <a:rPr lang="en-US" sz="1600" b="1" u="sng" dirty="0"/>
              <a:t>Future Work</a:t>
            </a:r>
            <a:endParaRPr lang="en-US" sz="1600" u="sn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Complete </a:t>
            </a:r>
            <a:r>
              <a:rPr lang="en-US" sz="1400" b="1" dirty="0"/>
              <a:t>16 × 8 SRAM array layout implementation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Perform </a:t>
            </a:r>
            <a:r>
              <a:rPr lang="en-US" sz="1400" b="1" dirty="0"/>
              <a:t>DRC and LVS verification for full SRAM array</a:t>
            </a:r>
            <a:r>
              <a:rPr lang="en-US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Conduct </a:t>
            </a:r>
            <a:r>
              <a:rPr lang="en-US" sz="1400" b="1" dirty="0"/>
              <a:t>post-layout simulations</a:t>
            </a:r>
            <a:r>
              <a:rPr lang="en-US" sz="1400" dirty="0"/>
              <a:t> for performance validation.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Evaluate </a:t>
            </a:r>
            <a:r>
              <a:rPr lang="en-US" sz="1400" b="1" dirty="0"/>
              <a:t>power, stability and timing performance</a:t>
            </a:r>
            <a:r>
              <a:rPr lang="en-US" sz="1400" dirty="0"/>
              <a:t>.</a:t>
            </a:r>
          </a:p>
          <a:p>
            <a:pPr>
              <a:lnSpc>
                <a:spcPct val="150000"/>
              </a:lnSpc>
            </a:pPr>
            <a:endParaRPr lang="en-US" sz="1400" b="1" u="sn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3B52E4-9735-545F-D4F1-BCFC5D0469CE}"/>
              </a:ext>
            </a:extLst>
          </p:cNvPr>
          <p:cNvCxnSpPr>
            <a:cxnSpLocks/>
          </p:cNvCxnSpPr>
          <p:nvPr/>
        </p:nvCxnSpPr>
        <p:spPr>
          <a:xfrm>
            <a:off x="4835013" y="884903"/>
            <a:ext cx="0" cy="53389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F5C31-D3D3-0453-DE6A-84CA3408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30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20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">
            <a:extLst>
              <a:ext uri="{FF2B5EF4-FFF2-40B4-BE49-F238E27FC236}">
                <a16:creationId xmlns:a16="http://schemas.microsoft.com/office/drawing/2014/main" id="{27E0E927-E25B-5EB5-08A6-D29FCE394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E49BBA-146D-0A51-7213-2F98AAFE0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0" y="1539710"/>
            <a:ext cx="9712960" cy="4144645"/>
          </a:xfrm>
        </p:spPr>
        <p:txBody>
          <a:bodyPr rtlCol="0"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Designed and simulated </a:t>
            </a:r>
            <a:r>
              <a:rPr lang="en-US" sz="1600" b="1" dirty="0"/>
              <a:t>6T and proposed 7T SRAM cells</a:t>
            </a:r>
            <a:r>
              <a:rPr lang="en-US" sz="1600" dirty="0"/>
              <a:t> using </a:t>
            </a:r>
            <a:r>
              <a:rPr lang="en-US" sz="1600" b="1" dirty="0"/>
              <a:t>180 nm XFAB technology in Cadence Virtuoso</a:t>
            </a:r>
            <a:r>
              <a:rPr lang="en-US" sz="1600" dirty="0"/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Functional verification confirmed correct </a:t>
            </a:r>
            <a:r>
              <a:rPr lang="en-US" sz="1600" b="1" dirty="0"/>
              <a:t>read, write, and hold operations</a:t>
            </a:r>
            <a:r>
              <a:rPr lang="en-US" sz="1600" dirty="0"/>
              <a:t> of the SRAM cells.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Stability analysis using </a:t>
            </a:r>
            <a:r>
              <a:rPr lang="en-US" sz="1600" b="1" dirty="0"/>
              <a:t>butterfly curve and SNM evaluation</a:t>
            </a:r>
            <a:r>
              <a:rPr lang="en-US" sz="1600" dirty="0"/>
              <a:t> shows that the </a:t>
            </a:r>
            <a:r>
              <a:rPr lang="en-US" sz="1600" b="1" dirty="0"/>
              <a:t>7T SRAM cell provides improved stability</a:t>
            </a:r>
            <a:r>
              <a:rPr lang="en-US" sz="1600" dirty="0"/>
              <a:t> compared to the conventional 6T cell.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additional transistor in the 7T architecture helps </a:t>
            </a:r>
            <a:r>
              <a:rPr lang="en-US" sz="1600" b="1" dirty="0"/>
              <a:t>reduce read disturbance and leakage current</a:t>
            </a:r>
            <a:r>
              <a:rPr lang="en-US" sz="1600" dirty="0"/>
              <a:t>, improving reliability.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Peripheral circuits including </a:t>
            </a:r>
            <a:r>
              <a:rPr lang="en-US" sz="1600" b="1" dirty="0"/>
              <a:t>row decoder, </a:t>
            </a:r>
            <a:r>
              <a:rPr lang="en-US" sz="1600" b="1" dirty="0" err="1"/>
              <a:t>precharge</a:t>
            </a:r>
            <a:r>
              <a:rPr lang="en-US" sz="1600" b="1" dirty="0"/>
              <a:t> circuit, write driver, and sense amplifier</a:t>
            </a:r>
            <a:r>
              <a:rPr lang="en-US" sz="1600" dirty="0"/>
              <a:t> were successfully designed and verified.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Basic </a:t>
            </a:r>
            <a:r>
              <a:rPr lang="en-US" sz="1600" b="1" dirty="0"/>
              <a:t>layout implementation and DRC/LVS verification</a:t>
            </a:r>
            <a:r>
              <a:rPr lang="en-US" sz="1600" dirty="0"/>
              <a:t> of key digital blocks have been completed.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next phase focuses on </a:t>
            </a:r>
            <a:r>
              <a:rPr lang="en-US" sz="1600" b="1" dirty="0"/>
              <a:t>complete 16×8 SRAM array integration, layout implementation, and post-layout analysis</a:t>
            </a:r>
            <a:r>
              <a:rPr lang="en-US" sz="1600" dirty="0"/>
              <a:t>.</a:t>
            </a:r>
          </a:p>
        </p:txBody>
      </p:sp>
      <p:sp>
        <p:nvSpPr>
          <p:cNvPr id="8196" name="Title 1">
            <a:extLst>
              <a:ext uri="{FF2B5EF4-FFF2-40B4-BE49-F238E27FC236}">
                <a16:creationId xmlns:a16="http://schemas.microsoft.com/office/drawing/2014/main" id="{C5586857-5688-2DC5-1D7E-70ED52C13031}"/>
              </a:ext>
            </a:extLst>
          </p:cNvPr>
          <p:cNvSpPr txBox="1">
            <a:spLocks/>
          </p:cNvSpPr>
          <p:nvPr/>
        </p:nvSpPr>
        <p:spPr bwMode="auto">
          <a:xfrm>
            <a:off x="19050" y="748378"/>
            <a:ext cx="99060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b="1" u="sng" dirty="0"/>
              <a:t>CONCLUSIONS</a:t>
            </a:r>
            <a:endParaRPr lang="en-IN" altLang="en-US" sz="2800" b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2480E7-E4C3-E3D1-8A7E-6EB9003A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31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>
            <a:extLst>
              <a:ext uri="{FF2B5EF4-FFF2-40B4-BE49-F238E27FC236}">
                <a16:creationId xmlns:a16="http://schemas.microsoft.com/office/drawing/2014/main" id="{E815C6E9-288F-5E4F-EBEE-20BA400D6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6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itle 1">
            <a:extLst>
              <a:ext uri="{FF2B5EF4-FFF2-40B4-BE49-F238E27FC236}">
                <a16:creationId xmlns:a16="http://schemas.microsoft.com/office/drawing/2014/main" id="{A24112DB-F252-21BC-A022-4AD887983FD8}"/>
              </a:ext>
            </a:extLst>
          </p:cNvPr>
          <p:cNvSpPr txBox="1">
            <a:spLocks/>
          </p:cNvSpPr>
          <p:nvPr/>
        </p:nvSpPr>
        <p:spPr bwMode="auto">
          <a:xfrm>
            <a:off x="0" y="700497"/>
            <a:ext cx="99060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600" b="1" u="sng" dirty="0"/>
              <a:t>REFERENCES</a:t>
            </a:r>
            <a:endParaRPr lang="en-IN" altLang="en-US" sz="26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CE08B-1706-1E33-47E7-9D476E831E07}"/>
              </a:ext>
            </a:extLst>
          </p:cNvPr>
          <p:cNvSpPr txBox="1"/>
          <p:nvPr/>
        </p:nvSpPr>
        <p:spPr>
          <a:xfrm>
            <a:off x="104468" y="1504335"/>
            <a:ext cx="9570474" cy="4213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[1] </a:t>
            </a:r>
            <a:r>
              <a:rPr lang="en-US" sz="1200" b="1" dirty="0"/>
              <a:t>E. </a:t>
            </a:r>
            <a:r>
              <a:rPr lang="en-US" sz="1200" b="1" dirty="0" err="1"/>
              <a:t>Seevinck</a:t>
            </a:r>
            <a:r>
              <a:rPr lang="en-US" sz="1200" b="1" dirty="0"/>
              <a:t>, F. J. List, and J. </a:t>
            </a:r>
            <a:r>
              <a:rPr lang="en-US" sz="1200" b="1" dirty="0" err="1"/>
              <a:t>Lohstroh</a:t>
            </a:r>
            <a:r>
              <a:rPr lang="en-US" sz="1200" dirty="0"/>
              <a:t>, “Static-noise margin analysis of MOS SRAM cells,” IEEE Journal of Solid-State Circuits, vol. 22, no. 5, pp. 748–754, Oct. 1987.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[2] </a:t>
            </a:r>
            <a:r>
              <a:rPr lang="en-US" sz="1200" b="1" dirty="0"/>
              <a:t>S. M. Kang and Y. Leblebici</a:t>
            </a:r>
            <a:r>
              <a:rPr lang="en-US" sz="1200" dirty="0"/>
              <a:t>, CMOS Digital Integrated Circuits: Analysis and Design, 3rd ed. New York, NY, USA: McGraw-Hill, 2003.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[3] </a:t>
            </a:r>
            <a:r>
              <a:rPr lang="en-US" sz="1200" b="1" dirty="0"/>
              <a:t>N. H. E. Weste and D. Harris</a:t>
            </a:r>
            <a:r>
              <a:rPr lang="en-US" sz="1200" dirty="0"/>
              <a:t>, CMOS VLSI Design: A Circuits and Systems Perspective, 4th ed. Boston, MA, USA: Addison-Wesley, 2011.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[4] </a:t>
            </a:r>
            <a:r>
              <a:rPr lang="en-US" sz="1200" b="1" dirty="0"/>
              <a:t>B. Razavi</a:t>
            </a:r>
            <a:r>
              <a:rPr lang="en-US" sz="1200" dirty="0"/>
              <a:t>, Design of Analog CMOS Integrated Circuits, 2nd ed. New York, NY, USA: McGraw-Hill, 2012.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[5] </a:t>
            </a:r>
            <a:r>
              <a:rPr lang="en-US" sz="1200" b="1" dirty="0"/>
              <a:t>Y. Zhang, J. Wang, and Y. Li</a:t>
            </a:r>
            <a:r>
              <a:rPr lang="en-US" sz="1200" dirty="0"/>
              <a:t>, “A 7T SRAM cell design for improved stability and low leakage,” IEEE Transactions on Very Large Scale Integration (VLSI) Systems, vol. 18, no. 3, pp. 484–488, Mar. 2010.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[6] </a:t>
            </a:r>
            <a:r>
              <a:rPr lang="en-US" sz="1200" b="1" dirty="0"/>
              <a:t>R. Bisht and A. Pranav</a:t>
            </a:r>
            <a:r>
              <a:rPr lang="en-US" sz="1200" dirty="0"/>
              <a:t>, “Design of 16×16 SRAM array using 7T SRAM cell for low power applications,” Journal of Graphic Era University, vol. 5, no. 2, pp. 58–68, 2017.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/>
              <a:t>[7] </a:t>
            </a:r>
            <a:r>
              <a:rPr lang="en-US" sz="1200" b="1" dirty="0"/>
              <a:t>V. Saxena</a:t>
            </a:r>
            <a:r>
              <a:rPr lang="en-US" sz="1200" dirty="0"/>
              <a:t>, SRAM Static Characterization, Department of Electrical and Computer Engineering, Boise State University, Boise, ID, USA, Lecture slides, 2016.</a:t>
            </a:r>
          </a:p>
          <a:p>
            <a:pPr marL="855663" indent="-508000" algn="just" eaLnBrk="1" fontAlgn="auto" hangingPunct="1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IN" sz="1200" dirty="0"/>
              <a:t>[8] </a:t>
            </a:r>
            <a:r>
              <a:rPr lang="en-IN" sz="1200" b="1" dirty="0"/>
              <a:t>D. </a:t>
            </a:r>
            <a:r>
              <a:rPr lang="en-IN" sz="1200" b="1" dirty="0" err="1"/>
              <a:t>Balobas</a:t>
            </a:r>
            <a:r>
              <a:rPr lang="en-IN" sz="1200" b="1" dirty="0"/>
              <a:t> and N. </a:t>
            </a:r>
            <a:r>
              <a:rPr lang="en-IN" sz="1200" b="1" dirty="0" err="1"/>
              <a:t>Konofaos</a:t>
            </a:r>
            <a:r>
              <a:rPr lang="en-IN" sz="1200" dirty="0"/>
              <a:t>, “Design and evaluation of 6T SRAM layout designs at modern nanoscale CMOS processes,” in Proc. 4th International Conf. on Modern Circuits and Systems Technologies (MOCAST), 2015.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756DA-43D5-2948-7203-11C44DD0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32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B504-6E88-3767-AE97-1050A13A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>
            <a:extLst>
              <a:ext uri="{FF2B5EF4-FFF2-40B4-BE49-F238E27FC236}">
                <a16:creationId xmlns:a16="http://schemas.microsoft.com/office/drawing/2014/main" id="{F3158535-DE70-FD5E-93DE-7E2446085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25050" cy="690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3593AA-21BF-5A0D-9BE9-DFFA1479A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2868868"/>
            <a:ext cx="9601200" cy="1120263"/>
          </a:xfrm>
        </p:spPr>
        <p:txBody>
          <a:bodyPr rtlCol="0">
            <a:normAutofit fontScale="92500" lnSpcReduction="20000"/>
          </a:bodyPr>
          <a:lstStyle/>
          <a:p>
            <a:pPr marL="855663" indent="-508000" algn="ctr" eaLnBrk="1" fontAlgn="auto" hangingPunct="1">
              <a:spcAft>
                <a:spcPts val="0"/>
              </a:spcAft>
              <a:buNone/>
              <a:defRPr/>
            </a:pPr>
            <a:r>
              <a:rPr lang="en-US" sz="6000" dirty="0">
                <a:latin typeface="Algerian" panose="04020705040A02060702" pitchFamily="82" charset="0"/>
              </a:rPr>
              <a:t>Thank You</a:t>
            </a:r>
          </a:p>
          <a:p>
            <a:pPr marL="855663" indent="-508000" algn="ctr" eaLnBrk="1" fontAlgn="auto" hangingPunct="1">
              <a:spcAft>
                <a:spcPts val="0"/>
              </a:spcAft>
              <a:buNone/>
              <a:defRPr/>
            </a:pPr>
            <a:r>
              <a:rPr lang="en-US" sz="1900" dirty="0">
                <a:latin typeface="Algerian" panose="04020705040A02060702" pitchFamily="82" charset="0"/>
              </a:rPr>
              <a:t>any questions ?</a:t>
            </a:r>
            <a:endParaRPr lang="en-IN" sz="1900" dirty="0">
              <a:latin typeface="Algerian" panose="04020705040A02060702" pitchFamily="8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8BDA7-2BD4-6694-1FA2-97D81080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A7890-FA74-432B-A9AE-48CBB80B72E8}" type="slidenum">
              <a:rPr lang="en-IN" altLang="en-US" smtClean="0">
                <a:solidFill>
                  <a:schemeClr val="tx1"/>
                </a:solidFill>
              </a:rPr>
              <a:pPr/>
              <a:t>33</a:t>
            </a:fld>
            <a:endParaRPr lang="en-I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67001"/>
      </p:ext>
    </p:extLst>
  </p:cSld>
  <p:clrMapOvr>
    <a:masterClrMapping/>
  </p:clrMapOvr>
</p:sld>
</file>

<file path=ppt/theme/theme1.xml><?xml version="1.0" encoding="utf-8"?>
<a:theme xmlns:a="http://schemas.openxmlformats.org/drawingml/2006/main" name="New PPT Forma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PPT Format</Template>
  <TotalTime>971</TotalTime>
  <Words>3170</Words>
  <Application>Microsoft Office PowerPoint</Application>
  <PresentationFormat>A4 Paper (210x297 mm)</PresentationFormat>
  <Paragraphs>400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Algerian</vt:lpstr>
      <vt:lpstr>Arial</vt:lpstr>
      <vt:lpstr>Bookman Old Style</vt:lpstr>
      <vt:lpstr>Calibri</vt:lpstr>
      <vt:lpstr>Cambria Math</vt:lpstr>
      <vt:lpstr>Wingdings</vt:lpstr>
      <vt:lpstr>New PPT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SILICON</dc:creator>
  <cp:lastModifiedBy>Bibhu Asish Panda</cp:lastModifiedBy>
  <cp:revision>3</cp:revision>
  <dcterms:created xsi:type="dcterms:W3CDTF">2024-03-23T06:10:53Z</dcterms:created>
  <dcterms:modified xsi:type="dcterms:W3CDTF">2026-03-14T04:40:04Z</dcterms:modified>
</cp:coreProperties>
</file>